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20" Type="http://schemas.openxmlformats.org/officeDocument/2006/relationships/viewProps" Target="viewProps.xml" /><Relationship Id="rId2" Type="http://schemas.openxmlformats.org/officeDocument/2006/relationships/slide" Target="slides/slide2.xml" /><Relationship Id="rId17" Type="http://schemas.openxmlformats.org/officeDocument/2006/relationships/notesMaster" Target="notesMasters/notesMaster1.xml" /><Relationship Id="rId16" Type="http://schemas.openxmlformats.org/officeDocument/2006/relationships/slide" Target="slides/slide16.xml" /><Relationship Id="rId19" Type="http://schemas.openxmlformats.org/officeDocument/2006/relationships/tableStyles" Target="tableStyles.xml" /><Relationship Id="rId18" Type="http://schemas.openxmlformats.org/officeDocument/2006/relationships/presProps" Target="presProps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 position: 'relative', width: '100%', height: '100%' }}&gt;&#10;    &lt;Image src=&quot;resources/images/tech_aura_bg.png&quot; style={{ position: 'absolute', top: 0, left: 0, width: '100%', height: '100%', objectFit: 'cover' }} /&gt;&#10;    &lt;Box style={{ position: 'absolute', top: 0, left: 0, width: '100%', height: '100%', background: 'rgba(255,255,255,0.72)' }} /&gt;&#10;&#10;    &lt;Box style={{ position: 'relative', zIndex: 2, padding: '70px 80px', height: '100%', display: 'flex', flexDirection: 'column', justifyContent: 'center' }}&gt;&#10;      &lt;Text style={{ fontSize: 42, color: '#0F172A', fontWeight: 'bold', lineHeight: 1.15, marginBottom: 6 }}&gt;🔥👁️ 火瞳&lt;/Text&gt;&#10;      &lt;Text style={{ fontSize: 24, color: '#64748B', fontWeight: 'normal', lineHeight: 1.4, marginBottom: 32 }}&gt;全链路产品报告&lt;/Text&gt;&#10;&#10;      &lt;Box style={{ width: 70, height: 3, background: 'linear-gradient(90deg, #2563EB 0%, #7C3AED 100%)', borderRadius: 2, marginBottom: 28 }} /&gt;&#10;&#10;      &lt;Box style={{ display: 'flex', flexDirection: 'row', gap: 20, alignItems: 'center' }}&gt;&#10;        &lt;Text style={{ fontSize: 14, color: '#64748B' }}&gt;产品 v5.3&lt;/Text&gt;&#10;        &lt;Text style={{ fontSize: 14, color: '#94A3B8' }}&gt;·&lt;/Text&gt;&#10;        &lt;Text style={{ fontSize: 14, color: '#64748B' }}&gt;架构 v1.1&lt;/Text&gt;&#10;        &lt;Text style={{ fontSize: 14, color: '#94A3B8' }}&gt;·&lt;/Text&gt;&#10;        &lt;Text style={{ fontSize: 14, color: '#64748B' }}&gt;2026.07&lt;/Text&gt;&#10;      &lt;/Box&gt;&#10;&#10;      &lt;Text style={{ fontSize: 16, color: '#94A3B8', marginTop: 26, lineHeight: 1.5 }}&gt;从市场机会到落地执行 · 全景呈现&lt;/Text&gt;&#10;    &lt;/Box&gt;&#10;&#10;    &lt;Box style={{ position: 'absolute', bottom: 28, right: 50, zIndex: 2 }}&gt;&#10;      &lt;Text style={{ fontSize: 13, color: 'rgba(100,116,139,0.5)' }}&gt;1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10668000" cy="5524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150" b="1">
                <a:solidFill>
                  <a:srgbClr val="0F172A"/>
                </a:solidFill>
                <a:latin typeface="Microsoft YaHei"/>
                <a:ea typeface="Microsoft YaHei"/>
              </a:rPr>
              <a:t>🔥👁️ </a:t>
            </a:r>
            <a:r>
              <a:rPr lang="zh-CN" sz="3150" b="1">
                <a:solidFill>
                  <a:srgbClr val="0F172A"/>
                </a:solidFill>
                <a:latin typeface="Microsoft YaHei"/>
                <a:ea typeface="Microsoft YaHei"/>
              </a:rPr>
              <a:t>火瞳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全链路产品报告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3590925"/>
            <a:ext cx="66675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8862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v5.3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14475" y="3886200"/>
            <a:ext cx="4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752600" y="38862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v1.1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505075" y="3886200"/>
            <a:ext cx="4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43200" y="3886200"/>
            <a:ext cx="48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2026.07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4295775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从市场机会到落地执行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全景呈现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 / 16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" descr="&lt;Slide&gt;&#10;  &lt;Box style={{ position: 'relative', width: '100%', height: '100%' }}&gt;&#10;    &lt;Image src=&quot;resources/images/market_opportunity.png&quot; style={{ position: 'absolute', top: 0, left: 0, width: '100%', height: '100%', objectFit: 'cover' }} /&gt;&#10;    &lt;Box style={{ position: 'absolute', top: 0, left: 0, width: '100%', height: '100%', background: 'rgba(255,255,255,0.78)' }} /&gt;&#10;&#10;    &lt;Box style={{ position: 'relative', zIndex: 2, padding: '70px 80px', height: '100%', display: 'flex', flexDirection: 'column', justifyContent: 'center', alignItems: 'flex-start' }}&gt;&#10;      &lt;Text style={{ fontSize: 13, color: '#D97706', fontWeight: '600', letterSpacing: 4, marginBottom: 16 }}&gt;MARKET OPPORTUNITY&lt;/Text&gt;&#10;      &lt;Text style={{ fontSize: 46, color: '#0F172A', fontWeight: 'bold', lineHeight: 1.15, marginBottom: 12 }}&gt;万亿市场&lt;/Text&gt;&#10;      &lt;Text style={{ fontSize: 46, color: '#0F172A', fontWeight: 'bold', lineHeight: 1.15 }}&gt;等待 AI 破局&lt;/Text&gt;&#10;      &lt;Text style={{ fontSize: 18, color: '#64748B', marginTop: 20, lineHeight: 1.5 }}&gt;44.8 万家门店 · 连锁化率仅 25% · 效率为王&lt;/Text&gt;&#10;    &lt;/Box&gt;&#10;&#10;    &lt;Box style={{ position: 'absolute', bottom: 28, right: 50, zIndex: 2 }}&gt;&#10;      &lt;Text style={{ fontSize: 13, color: 'rgba(100,116,139,0.5)' }}&gt;2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62000" y="2362200"/>
            <a:ext cx="2152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D97706"/>
                </a:solidFill>
                <a:latin typeface="Microsoft YaHei"/>
                <a:ea typeface="Microsoft YaHei"/>
              </a:rPr>
              <a:t>MARKET OPPORTUNITY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17526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万亿市场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62000" y="3390900"/>
            <a:ext cx="24384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等待</a:t>
            </a:r>
            <a:r>
              <a:rPr lang="en-US" sz="3450" b="1">
                <a:solidFill>
                  <a:srgbClr val="0F172A"/>
                </a:solidFill>
                <a:latin typeface="Microsoft YaHei"/>
                <a:ea typeface="Microsoft YaHei"/>
              </a:rPr>
              <a:t> AI </a:t>
            </a: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破局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44.8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万家门店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连锁化率仅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25%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效率为王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2 / 16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0" name="" descr="&lt;Slide style={{ background: '#FFFFFF', padding: '42px 55px 32px' }}&gt;&#10;  &lt;Text style={{ fontSize: 14, color: '#64748B', fontWeight: '500', marginBottom: 6 }}&gt;火锅赛道 · 天量空间&lt;/Text&gt;&#10;  &lt;Text style={{ fontSize: 28, color: '#0F172A', fontWeight: 'bold', marginBottom: 24 }}&gt;泛火锅市场规模 (2025)&lt;/Text&gt;&#10;&#10;  &lt;Box style={{ display: 'flex', flexDirection: 'column', alignItems: 'center', marginBottom: 20 }}&gt;&#10;    &lt;Text style={{&#10;      fontSize: 64,&#10;      fontWeight: 'bold',&#10;      backgroundImage: 'linear-gradient(135deg, #D97706 0%, #EA580C 100%)',&#10;      backgroundClip: 'text',&#10;      color: 'transparent',&#10;      lineHeight: 1&#10;    }}&gt;¥1.04&lt;span style={{ fontSize: 36 }}&gt;万亿&lt;/span&gt;&lt;/Text&gt;&#10;    &lt;Text style={{ fontSize: 15, color: '#64748B', marginTop: 6 }}&gt;中国餐饮最大单品赛道&lt;/Text&gt;&#10;  &lt;/Box&gt;&#10;&#10;  &lt;Box style={{ display: 'flex', flexDirection: 'row', gap: 14 }}&gt;&#10;    &lt;Box style={{ flex: 1, background: '#F8FAFC', borderRadius: 10, padding: '16px 20px', border: '1px solid #E2E8F0' }}&gt;&#10;      &lt;Text style={{ fontSize: 30, fontWeight: 'bold', color: '#0F172A' }}&gt;44.8&lt;span style={{ fontSize: 16, color: '#64748B' }}&gt;万家&lt;/span&gt;&lt;/Text&gt;&#10;      &lt;Text style={{ fontSize: 13, color: '#64748B', marginTop: 3 }}&gt;火锅门店数 · 同比 -15.4%&lt;/Text&gt;&#10;    &lt;/Box&gt;&#10;    &lt;Box style={{ flex: 1, background: '#F8FAFC', borderRadius: 10, padding: '16px 20px', border: '1px solid #E2E8F0' }}&gt;&#10;      &lt;Text style={{ fontSize: 30, fontWeight: 'bold', color: '#2563EB' }}&gt;25&lt;span style={{ fontSize: 16, color: '#64748B' }}&gt;%&lt;/span&gt;&lt;/Text&gt;&#10;      &lt;Text style={{ fontSize: 13, color: '#64748B', marginTop: 3 }}&gt;连锁化率 → 35%+ (2028)&lt;/Text&gt;&#10;    &lt;/Box&gt;&#10;  &lt;/Box&gt;&#10;&#10;  &lt;Box style={{ display: 'flex', flexDirection: 'row', gap: 14, marginTop: 14 }}&gt;&#10;    &lt;Box style={{ flex: 1, background: '#FEF2F2', borderRadius: 10, padding: '16px 20px', border: '1px solid #FECACA' }}&gt;&#10;      &lt;Text style={{ fontSize: 30, fontWeight: 'bold', color: '#DC2626' }}&gt;6.2&lt;span style={{ fontSize: 16, color: '#64748B' }}&gt;%&lt;/span&gt;&lt;/Text&gt;&#10;      &lt;Text style={{ fontSize: 13, color: '#64748B', marginTop: 3 }}&gt;行业平均净利率&lt;/Text&gt;&#10;    &lt;/Box&gt;&#10;    &lt;Box style={{ flex: 1, background: '#ECFDF5', borderRadius: 10, padding: '16px 20px', border: '1px solid #A7F3D0' }}&gt;&#10;      &lt;Text style={{ fontSize: 30, fontWeight: 'bold', color: '#059669' }}&gt;18&lt;span style={{ fontSize: 16, color: '#64748B' }}&gt;%&lt;/span&gt;&lt;/Text&gt;&#10;      &lt;Text style={{ fontSize: 13, color: '#64748B', marginTop: 3 }}&gt;头部品牌净利率&lt;/Text&gt;&#10;    &lt;/Box&gt;&#10;  &lt;/Box&gt;&#10;&#10;  &lt;Box style={{ position: 'absolute', bottom: 28, right: 50 }}&gt;&#10;    &lt;Text style={{ fontSize: 13, color: 'rgba(100,116,139,0.4)' }}&gt;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火锅赛道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天量空间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泛火锅市场规模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(2025)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991100" y="1171575"/>
            <a:ext cx="2219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¥1.04</a:t>
            </a:r>
            <a:r>
              <a:rPr lang="zh-CN" sz="27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万亿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381625" y="19621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中国餐饮最大单品赛道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23875" y="2324100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14375" y="2476500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44.8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万家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14375" y="2847975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火锅门店数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同比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-15.4%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162675" y="2324100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353175" y="2476500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25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53175" y="2847975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连锁化率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35%+ (2028)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23875" y="3286125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14375" y="34385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C2626"/>
                </a:solidFill>
                <a:latin typeface="Microsoft YaHei"/>
                <a:ea typeface="Microsoft YaHei"/>
              </a:rPr>
              <a:t>6.2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14375" y="3810000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行业平均净利率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162675" y="3286125"/>
            <a:ext cx="5505450" cy="828675"/>
          </a:xfrm>
          <a:prstGeom prst="roundRect">
            <a:avLst>
              <a:gd name="adj" fmla="val 1149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353175" y="34385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59669"/>
                </a:solidFill>
                <a:latin typeface="Microsoft YaHei"/>
                <a:ea typeface="Microsoft YaHei"/>
              </a:rPr>
              <a:t>18</a:t>
            </a: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353175" y="3810000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头部品牌净利率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3 / 16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59" name="" descr="&lt;Slide style={{ background: '#FFFFFF', padding: '42px 55px 32px', display: 'flex', flexDirection: 'column', alignItems: 'center', justifyContent: 'center' }}&gt;&#10;  &lt;Text style={{ fontSize: 56, color: 'rgba(203,213,225,0.5)', fontWeight: 'bold', lineHeight: 1, marginBottom: -8 }}&gt;&quot;&lt;/Text&gt;&#10;&#10;  &lt;Text style={{&#10;    fontSize: 28,&#10;    color: '#0F172A',&#10;    fontWeight: '600',&#10;    lineHeight: 1.6,&#10;    textAlign: 'center',&#10;    marginBottom: 6&#10;  }}&gt;摄像头替你看后厨&lt;/Text&gt;&#10;  &lt;Text style={{&#10;    fontSize: 28,&#10;    color: '#0F172A',&#10;    fontWeight: '600',&#10;    lineHeight: 1.6,&#10;    textAlign: 'center',&#10;    marginBottom: 6&#10;  }}&gt;AI 替你算订货&lt;/Text&gt;&#10;  &lt;Text style={{&#10;    fontSize: 28,&#10;    color: '#0F172A',&#10;    fontWeight: '600',&#10;    lineHeight: 1.6,&#10;    textAlign: 'center',&#10;    marginBottom: 26&#10;  }}&gt;手机上管所有店&lt;/Text&gt;&#10;&#10;  &lt;Box style={{ width: 80, height: 3, background: 'linear-gradient(90deg, #2563EB 0%, #7C3AED 50%, #06B6D4 100%)', borderRadius: 2, marginBottom: 22 }} /&gt;&#10;&#10;  &lt;Text style={{ fontSize: 18, color: '#64748B', fontWeight: 'normal' }}&gt;火瞳 —— 冯校长火锅连锁 AI 运营中台&lt;/Text&gt;&#10;  &lt;Text style={{ fontSize: 14, color: '#94A3B8', marginTop: 6 }}&gt;视觉 + 数据 · 双引擎&lt;/Text&gt;&#10;&#10;  &lt;Box style={{ position: 'absolute', bottom: 28, right: 50 }}&gt;&#10;    &lt;Text style={{ fontSize: 13, color: 'rgba(100,116,139,0.4)' }}&gt;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972175" y="1905000"/>
            <a:ext cx="2571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CBD5E1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029200" y="2476500"/>
            <a:ext cx="21336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摄像头替你看后厨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257800" y="3048000"/>
            <a:ext cx="16764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替你算订货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162550" y="3619500"/>
            <a:ext cx="1866900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手机上管所有店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0" y="438150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629150" y="46196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火瞳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495925" y="4886325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4 / 16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69" name="" descr="&lt;Slide style={{ background: '#FFFFFF', padding: '42px 55px 32px' }}&gt;&#10;  &lt;Text style={{ fontSize: 14, color: '#64748B', fontWeight: '500', marginBottom: 5 }}&gt;PRODUCT CAPABILITY&lt;/Text&gt;&#10;  &lt;Text style={{ fontSize: 28, color: '#0F172A', fontWeight: 'bold', marginBottom: 22 }}&gt;五层能力 · 从看见到管住&lt;/Text&gt;&#10;&#10;  &lt;Box style={{ display: 'flex', flexDirection: 'row', gap: 24 }}&gt;&#10;    &lt;Box style={{ width: '54%', position: 'relative', borderRadius: 14, overflow: 'hidden', background: 'linear-gradient(180deg, rgba(37,99,235,0.06) 0%, rgba(124,58,237,0.04) 50%, rgba(6,182,212,0.03) 100%)', border: '1px solid #E2E8F0', display: 'flex', flexDirection: 'column', justifyContent: 'center', alignItems: 'center', padding: 22 }}&gt;&#10;      &lt;Box style={{ display: 'flex', flexDirection: 'column', gap: 10, width: '100%' }}&gt;&#10;        {[&#10;          { num: '①', label: '看得见的损失', desc: '视觉AI自动识别后厨浪费', color: '#2563EB' },&#10;          { num: '②', label: '算得清的订货', desc: 'AI预测销量，智能建议订货量', color: '#7C3AED' },&#10;          { num: '③', label: '管得住的连锁', desc: '多店统一看板 + SOP合规检查', color: '#0891B2' },&#10;          { num: '④', label: '管得了的冻品', desc: '全程温控追溯 + 品质标准锁定', color: '#D97706' },&#10;          { num: '⑤', label: '配得上的助理', desc: '每个岗位都有专属AI助手', color: '#059669' }&#10;        ].map((item, i) =&gt; (&#10;          &lt;Box key={i} style={{&#10;            display: 'flex', flexDirection: 'row', alignItems: 'center', gap: 12,&#10;            background: '#FFFFFF', borderRadius: 8, padding: '11px 14px',&#10;            borderLeft: `3px solid ${item.color}`, boxShadow: '0 1px 3px rgba(0,0,0,0.03)'&#10;          }}&gt;&#10;            &lt;Text style={{ fontSize: 18, fontWeight: 'bold', color: item.color }}&gt;{item.num}&lt;/Text&gt;&#10;            &lt;Box&gt;&#10;              &lt;Text style={{ fontSize: 15, fontWeight: '600', color: '#0F172A' }}&gt;{item.label}&lt;/Text&gt;&#10;              &lt;Text style={{ fontSize: 12, color: '#64748B' }}&gt;{item.desc}&lt;/Text&gt;&#10;            &lt;/Box&gt;&#10;          &lt;/Box&gt;&#10;        ))}&#10;      &lt;/Box&gt;&#10;    &lt;/Box&gt;&#10;&#10;    &lt;Box style={{ flex: 1, display: 'flex', flexDirection: 'column', gap: 10 }}&gt;&#10;      &lt;Box style={{ background: '#F8FAFC', borderRadius: 8, padding: 14, border: '1px solid #E2E8F0', flex: 1 }}&gt;&#10;        &lt;Text style={{ fontSize: 13, color: '#2563EB', fontWeight: '600', marginBottom: 6 }}&gt;视觉引擎&lt;/Text&gt;&#10;        &lt;Text style={{ fontSize: 13, color: '#475569', lineHeight: 1.5 }}&gt;覆盖后厨全部工位，自动检测浪费与违规&lt;/Text&gt;&#10;      &lt;/Box&gt;&#10;&#10;      &lt;Box style={{ background: '#F8FAFC', borderRadius: 8, padding: 14, border: '1px solid #E2E8F0', flex: 1 }}&gt;&#10;        &lt;Text style={{ fontSize: 13, color: '#7C3AED', fontWeight: '600', marginBottom: 6 }}&gt;数据引擎&lt;/Text&gt;&#10;        &lt;Text style={{ fontSize: 13, color: '#475569', lineHeight: 1.5 }}&gt;销量预测 / 库存优化 / 损耗分析 / 成本核算&lt;/Text&gt;&#10;      &lt;/Box&gt;&#10;&#10;      &lt;Box style={{ background: '#F8FAFC', borderRadius: 8, padding: 14, border: '1px solid #E2E8F0', flex: 1 }}&gt;&#10;        &lt;Text style={{ fontSize: 13, color: '#0891B2', fontWeight: '600', marginBottom: 6 }}&gt;智能体&lt;/Text&gt;&#10;        &lt;Text style={{ fontSize: 13, color: '#475569', lineHeight: 1.5 }}&gt;店长 / 后厨 / 采购 / 供应商 四角色专属入口&lt;/Text&gt;&#10;      &lt;/Box&gt;&#10;&#10;      &lt;Box style={{ background: '#F8FAFC', borderRadius: 8, padding: 14, border: '1px solid #E2E8F0', flex: 1 }}&gt;&#10;        &lt;Text style={{ fontSize: 13, color: '#D97706', fontWeight: '600', marginBottom: 6 }}&gt;供应链&lt;/Text&gt;&#10;        &lt;Text style={{ fontSize: 13, color: '#475569', lineHeight: 1.5 }}&gt;冻品品质标准、温控追溯、退换货管理&lt;/Text&gt;&#10;      &lt;/Box&gt;&#10;    &lt;/Box&gt;&#10;  &lt;/Box&gt;&#10;&#10;  &lt;Box style={{ position: 'absolute', bottom: 28, right: 50 }}&gt;&#10;    &lt;Text style={{ fontSize: 13, color: 'rgba(100,116,139,0.4)' }}&gt;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PRODUCT CAPABILITY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23875" y="60960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五层能力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从看见到管住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772275" y="1143000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905625" y="12763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视觉引擎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905625" y="14859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覆盖后厨全部工位，自动检测浪费与违规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772275" y="2019300"/>
            <a:ext cx="4895850" cy="790575"/>
          </a:xfrm>
          <a:prstGeom prst="roundRect">
            <a:avLst>
              <a:gd name="adj" fmla="val 96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905625" y="21526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7C3AED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905625" y="23622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销量预测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库存优化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损耗分析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772275" y="2905125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905625" y="30384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905625" y="32480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店长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后厨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采购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供应商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四角色专属入口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772275" y="3781425"/>
            <a:ext cx="489585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05625" y="39147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97706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905625" y="41243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冻品品质标准、温控追溯、退换货管理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23875" y="1143000"/>
            <a:ext cx="6019800" cy="3419475"/>
          </a:xfrm>
          <a:prstGeom prst="roundRect">
            <a:avLst>
              <a:gd name="adj" fmla="val 3900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50000">
                <a:srgbClr val="7C3AED">
                  <a:alpha val="4000"/>
                </a:srgbClr>
              </a:gs>
              <a:gs pos="100000">
                <a:srgbClr val="06B6D4">
                  <a:alpha val="3000"/>
                </a:srgb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62000" y="135255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762000" y="135255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95350" y="15144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81100" y="14573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看得见的损失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81100" y="16287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视觉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自动识别后厨浪费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62000" y="1971675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762000" y="1971675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7C3AED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81100" y="207645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算得清的订货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81100" y="22479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预测销量，智能建议订货量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62000" y="259080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62000" y="259080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5350" y="27527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891B2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811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管得住的连锁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81100" y="286702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多店统一看板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SOP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合规检查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62000" y="3209925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762000" y="3209925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95350" y="3371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81100" y="33147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管得了的冻品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81100" y="348615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全程温控追溯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品质标准锁定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62000" y="3829050"/>
            <a:ext cx="56007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62000" y="3829050"/>
            <a:ext cx="5600700" cy="523875"/>
          </a:xfrm>
          <a:custGeom>
            <a:pathLst>
              <a:path w="588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59669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95350" y="39909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81100" y="39338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配得上的助理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81100" y="41052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每个岗位都有专属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5 / 16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2" name="" descr="&lt;Slide style={{ background: '#FFFFFF', padding: '42px 55px 32px' }}&gt;&#10;  &lt;Text style={{ fontSize: 14, color: '#64748B', fontWeight: '500', marginBottom: 6 }}&gt;产品功能全景&lt;/Text&gt;&#10;  &lt;Box style={{ display: 'flex', flexDirection: 'row', alignItems: 'baseline', gap: 14, marginBottom: 18 }}&gt;&#10;    &lt;Text style={{&#10;      fontSize: 60,&#10;      fontWeight: 'bold',&#10;      backgroundImage: 'linear-gradient(135deg, #2563EB 0%, #7C3AED 100%)',&#10;      backgroundClip: 'text',&#10;      color: 'transparent',&#10;      lineHeight: 1&#10;    }}&gt;129&lt;/Text&gt;&#10;    &lt;Text style={{ fontSize: 22, color: '#64748B' }}&gt;项功能需求&lt;/Text&gt;&#10;  &lt;/Box&gt;&#10;&#10;  &lt;Box style={{ display: 'flex', flexDirection: 'row', gap: 12, marginBottom: 16 }}&gt;&#10;    &lt;Box style={{ flex: 1, background: '#FEF2F2', borderRadius: 8, padding: '14px 16px', border: '1px solid #FECACA', textAlign: 'center' }}&gt;&#10;      &lt;Text style={{ fontSize: 28, fontWeight: 'bold', color: '#DC2626' }}&gt;27&lt;/Text&gt;&#10;      &lt;Text style={{ fontSize: 12, color: '#64748B', marginTop: 2 }}&gt;核心功能&lt;/Text&gt;&#10;    &lt;/Box&gt;&#10;    &lt;Box style={{ flex: 1, background: '#FFFBEB', borderRadius: 8, padding: '14px 16px', border: '1px solid #FDE68A', textAlign: 'center' }}&gt;&#10;      &lt;Text style={{ fontSize: 28, fontWeight: 'bold', color: '#D97706' }}&gt;42&lt;/Text&gt;&#10;      &lt;Text style={{ fontSize: 12, color: '#64748B', marginTop: 2 }}&gt;重要功能&lt;/Text&gt;&#10;    &lt;/Box&gt;&#10;    &lt;Box style={{ flex: 1, background: '#EFF6FF', borderRadius: 8, padding: '14px 16px', border: '1px solid #BFDBFE', textAlign: 'center' }}&gt;&#10;      &lt;Text style={{ fontSize: 28, fontWeight: 'bold', color: '#2563EB' }}&gt;56&lt;/Text&gt;&#10;      &lt;Text style={{ fontSize: 12, color: '#64748B', marginTop: 2 }}&gt;增强功能&lt;/Text&gt;&#10;    &lt;/Box&gt;&#10;    &lt;Box style={{ flex: 1, background: '#F8FAFC', borderRadius: 8, padding: '14px 16px', border: '1px solid #E2E8F0', textAlign: 'center' }}&gt;&#10;      &lt;Text style={{ fontSize: 28, fontWeight: 'bold', color: '#64748B' }}&gt;4&lt;/Text&gt;&#10;      &lt;Text style={{ fontSize: 12, color: '#94A3B8', marginTop: 2 }}&gt;前瞻规划&lt;/Text&gt;&#10;    &lt;/Box&gt;&#10;  &lt;/Box&gt;&#10;&#10;  &lt;Text style={{ fontSize: 13, color: '#64748B', marginBottom: 10 }}&gt;九大功能领域&lt;/Text&gt;&#10;  &lt;Box style={{ display: 'flex', flexDirection: 'row', flexWrap: 'wrap', gap: 7 }}&gt;&#10;    {[&#10;      { label: '视觉识别', count: 70, color: '#2563EB' },&#10;      { label: '数据分析', count: 27, color: '#7C3AED' },&#10;      { label: '连锁管控', count: 14, color: '#0891B2' },&#10;      { label: '仓库管理', count: 6, color: '#D97706' },&#10;      { label: '岗位助理', count: 5, color: '#059669' },&#10;      { label: '会员营销', count: 4, color: '#DC2626' },&#10;      { label: 'SOP合规', count: 3, color: '#6366F1' },&#10;      { label: '知识库', count: 2, color: '#0D9488' },&#10;      { label: '供应链', count: 4, color: '#EA580C' }&#10;    ].map((tag, i) =&gt; (&#10;      &lt;Box key={i} style={{&#10;        background: `${tag.color}08`,&#10;        border: `1px solid ${tag.color}25`,&#10;        borderRadius: 16,&#10;        padding: '5px 12px',&#10;        display: 'flex', flexDirection: 'row', alignItems: 'center', gap: 5&#10;      }}&gt;&#10;        &lt;Text style={{ fontSize: 12, fontWeight: '600', color: tag.color }}&gt;{tag.label}&lt;/Text&gt;&#10;        &lt;Text style={{ fontSize: 11, color: '#64748B' }}&gt;{tag.count}&lt;/Text&gt;&#10;      &lt;/Box&gt;&#10;    ))}&#10;  &lt;/Box&gt;&#10;&#10;  &lt;Box style={{ position: 'absolute', bottom: 28, right: 50 }}&gt;&#10;    &lt;Text style={{ fontSize: 13, color: 'rgba(100,116,139,0.4)' }}&gt;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产品功能全景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96202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619250" y="619125"/>
            <a:ext cx="10477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项功能需求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23875" y="1476375"/>
            <a:ext cx="2705100" cy="752475"/>
          </a:xfrm>
          <a:prstGeom prst="roundRect">
            <a:avLst>
              <a:gd name="adj" fmla="val 1012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76275" y="1609725"/>
            <a:ext cx="240030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DC2626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76275" y="1952625"/>
            <a:ext cx="24003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3343275" y="1476375"/>
            <a:ext cx="2695575" cy="752475"/>
          </a:xfrm>
          <a:prstGeom prst="roundRect">
            <a:avLst>
              <a:gd name="adj" fmla="val 1012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3495675" y="1609725"/>
            <a:ext cx="23907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D97706"/>
                </a:solidFill>
                <a:latin typeface="Microsoft YaHei"/>
                <a:ea typeface="Microsoft YaHei"/>
              </a:rPr>
              <a:t>42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495675" y="1952625"/>
            <a:ext cx="2390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重要功能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153150" y="1476375"/>
            <a:ext cx="2705100" cy="752475"/>
          </a:xfrm>
          <a:prstGeom prst="roundRect">
            <a:avLst>
              <a:gd name="adj" fmla="val 101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305550" y="1609725"/>
            <a:ext cx="240030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305550" y="1952625"/>
            <a:ext cx="24003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增强功能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972550" y="1476375"/>
            <a:ext cx="2695575" cy="752475"/>
          </a:xfrm>
          <a:prstGeom prst="roundRect">
            <a:avLst>
              <a:gd name="adj" fmla="val 101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124950" y="1609725"/>
            <a:ext cx="23907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b="1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124950" y="1952625"/>
            <a:ext cx="23907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前瞻规划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23875" y="2381250"/>
            <a:ext cx="1114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九大功能领域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23875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3817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视觉识别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43000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1447800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7C3AED">
              <a:alpha val="3137"/>
            </a:srgbClr>
          </a:solidFill>
          <a:ln w="12700">
            <a:solidFill>
              <a:srgbClr val="7C3AED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56210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7C3AED"/>
                </a:solidFill>
                <a:latin typeface="Microsoft YaHei"/>
                <a:ea typeface="Microsoft YaHei"/>
              </a:rPr>
              <a:t>数据分析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2066925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2371725" y="2628900"/>
            <a:ext cx="857250" cy="238125"/>
          </a:xfrm>
          <a:prstGeom prst="roundRect">
            <a:avLst>
              <a:gd name="adj" fmla="val 64000"/>
            </a:avLst>
          </a:prstGeom>
          <a:solidFill>
            <a:srgbClr val="0891B2">
              <a:alpha val="3137"/>
            </a:srgbClr>
          </a:solidFill>
          <a:ln w="12700">
            <a:solidFill>
              <a:srgbClr val="0891B2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248602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91B2"/>
                </a:solidFill>
                <a:latin typeface="Microsoft YaHei"/>
                <a:ea typeface="Microsoft YaHei"/>
              </a:rPr>
              <a:t>连锁管控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2990850" y="26860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295650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D97706">
              <a:alpha val="3137"/>
            </a:srgbClr>
          </a:solidFill>
          <a:ln w="12700">
            <a:solidFill>
              <a:srgbClr val="D9770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40995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7706"/>
                </a:solidFill>
                <a:latin typeface="Microsoft YaHei"/>
                <a:ea typeface="Microsoft YaHei"/>
              </a:rPr>
              <a:t>仓库管理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91477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162425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059669">
              <a:alpha val="3137"/>
            </a:srgbClr>
          </a:solidFill>
          <a:ln w="12700">
            <a:solidFill>
              <a:srgbClr val="059669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276725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岗位助理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78155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029200" y="2628900"/>
            <a:ext cx="800100" cy="238125"/>
          </a:xfrm>
          <a:prstGeom prst="roundRect">
            <a:avLst>
              <a:gd name="adj" fmla="val 64000"/>
            </a:avLst>
          </a:prstGeom>
          <a:solidFill>
            <a:srgbClr val="DC2626">
              <a:alpha val="3137"/>
            </a:srgbClr>
          </a:solidFill>
          <a:ln w="12700">
            <a:solidFill>
              <a:srgbClr val="DC262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143500" y="2676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C2626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64832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5895975" y="2628900"/>
            <a:ext cx="819150" cy="238125"/>
          </a:xfrm>
          <a:prstGeom prst="roundRect">
            <a:avLst>
              <a:gd name="adj" fmla="val 64000"/>
            </a:avLst>
          </a:prstGeom>
          <a:solidFill>
            <a:srgbClr val="6366F1">
              <a:alpha val="3137"/>
            </a:srgbClr>
          </a:solidFill>
          <a:ln w="12700">
            <a:solidFill>
              <a:srgbClr val="6366F1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10275" y="26765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6366F1"/>
                </a:solidFill>
                <a:latin typeface="Microsoft YaHei"/>
                <a:ea typeface="Microsoft YaHei"/>
              </a:rPr>
              <a:t>SOP</a:t>
            </a:r>
            <a:r>
              <a:rPr lang="zh-CN" sz="900" b="1">
                <a:solidFill>
                  <a:srgbClr val="6366F1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53415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781800" y="2628900"/>
            <a:ext cx="685800" cy="238125"/>
          </a:xfrm>
          <a:prstGeom prst="roundRect">
            <a:avLst>
              <a:gd name="adj" fmla="val 64000"/>
            </a:avLst>
          </a:prstGeom>
          <a:solidFill>
            <a:srgbClr val="0D9488">
              <a:alpha val="3137"/>
            </a:srgbClr>
          </a:solidFill>
          <a:ln w="12700">
            <a:solidFill>
              <a:srgbClr val="0D9488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96100" y="2676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D9488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286625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534275" y="2628900"/>
            <a:ext cx="685800" cy="238125"/>
          </a:xfrm>
          <a:prstGeom prst="roundRect">
            <a:avLst>
              <a:gd name="adj" fmla="val 64000"/>
            </a:avLst>
          </a:prstGeom>
          <a:solidFill>
            <a:srgbClr val="EA580C">
              <a:alpha val="3137"/>
            </a:srgbClr>
          </a:solidFill>
          <a:ln w="12700">
            <a:solidFill>
              <a:srgbClr val="EA580C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648575" y="26765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A580C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039100" y="26860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8" name="" descr="&lt;Slide&gt;&#10;  &lt;Box style={{ position: 'relative', width: '100%', height: '100%', background: 'linear-gradient(135deg, #EFF6FF 0%, #F0F9FF 50%, #EEF2FF 100%)' }}&gt;&#10;    &lt;Box style={{ position: 'absolute', top: -80, right: -80, width: 400, height: 400, borderRadius: '50%', background: 'radial-gradient(circle, rgba(37,99,235,0.08) 0%, transparent 70%)' }} /&gt;&#10;    &lt;Box style={{ position: 'absolute', bottom: -60, left: -60, width: 300, height: 300, borderRadius: '50%', background: 'radial-gradient(circle, rgba(124,58,237,0.06) 0%, transparent 70%)' }} /&gt;&#10;&#10;    &lt;Box style={{ position: 'relative', zIndex: 2, padding: '70px 80px', height: '100%', display: 'flex', flexDirection: 'column', justifyContent: 'center' }}&gt;&#10;      &lt;Text style={{ fontSize: 13, color: '#2563EB', fontWeight: '600', letterSpacing: 4, marginBottom: 16 }}&gt;ARCHITECTURE&lt;/Text&gt;&#10;      &lt;Text style={{ fontSize: 46, color: '#0F172A', fontWeight: 'bold', lineHeight: 1.15 }}&gt;技术架构&lt;/Text&gt;&#10;      &lt;Text style={{ fontSize: 18, color: '#64748B', marginTop: 18 }}&gt;三层闭环 · 边缘到云端 · 智能在两端&lt;/Text&gt;&#10;    &lt;/Box&gt;&#10;&#10;    &lt;Box style={{ position: 'absolute', bottom: 28, right: 50, zIndex: 2 }}&gt;&#10;      &lt;Text style={{ fontSize: 13, color: 'rgba(100,116,139,0.5)' }}&gt;7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0000">
                <a:srgbClr val="F0F9FF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9144000" y="-762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-571500" y="45720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62000" y="27813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2563EB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62000" y="3086100"/>
            <a:ext cx="106680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三层闭环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边缘到云端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7 / 16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66" name="" descr="&lt;Slide style={{ background: '#FFFFFF', padding: '40px 55px 30px' }}&gt;&#10;  &lt;Text style={{ fontSize: 14, color: '#64748B', fontWeight: '500', marginBottom: 5 }}&gt;THREE-LAYER ARCHITECTURE&lt;/Text&gt;&#10;  &lt;Text style={{ fontSize: 26, color: '#0F172A', fontWeight: 'bold', marginBottom: 16 }}&gt;三层闭环 · 边缘到云端&lt;/Text&gt;&#10;&#10;  &lt;Box style={{ borderRadius: 12, overflow: 'hidden', border: '1px solid #E2E8F0', marginBottom: 14, boxShadow: '0 1px 6px rgba(0,0,0,0.04)' }}&gt;&#10;    &lt;Box style={{ background: 'linear-gradient(180deg, rgba(8,145,178,0.05) 0%, rgba(37,99,235,0.03) 100%)', padding: '18px 24px' }}&gt;&#10;      &lt;Box style={{ display: 'flex', flexDirection: 'row', alignItems: 'center', gap: 10, marginBottom: 10 }}&gt;&#10;        &lt;Text style={{ fontSize: 17, fontWeight: 'bold', color: '#0891B2' }}&gt;L2 边缘层 · 门店侧&lt;/Text&gt;&#10;      &lt;/Box&gt;&#10;      &lt;Text style={{ fontSize: 14, color: '#334155', lineHeight: 1.5 }}&gt;摄像头实时识别后厨操作 · 数据本地处理不上云 · 毫秒级响应&lt;/Text&gt;&#10;    &lt;/Box&gt;&#10;    &lt;Box style={{ height: 1, background: '#E2E8F0' }} /&gt;&#10;    &lt;Box style={{ display: 'flex', flexDirection: 'row', justifyContent: 'center', alignItems: 'center', padding: '6px 0' }}&gt;&#10;      &lt;Text style={{ fontSize: 14, color: '#94A3B8' }}&gt;↓ 安全加密传输 ↓&lt;/Text&gt;&#10;    &lt;/Box&gt;&#10;    &lt;Box style={{ height: 1, background: '#E2E8F0' }} /&gt;&#10;    &lt;Box style={{ background: 'linear-gradient(180deg, rgba(37,99,235,0.05) 0%, rgba(124,58,237,0.03) 100%)', padding: '18px 24px' }}&gt;&#10;      &lt;Box style={{ display: 'flex', flexDirection: 'row', alignItems: 'center', gap: 10, marginBottom: 10 }}&gt;&#10;        &lt;Text style={{ fontSize: 17, fontWeight: 'bold', color: '#2563EB' }}&gt;L3 平台层 · 云端大脑&lt;/Text&gt;&#10;      &lt;/Box&gt;&#10;      &lt;Text style={{ fontSize: 14, color: '#334155', lineHeight: 1.5 }}&gt;数据引擎 · 事件中枢 · 经营看板 · SOP合规引擎&lt;/Text&gt;&#10;    &lt;/Box&gt;&#10;    &lt;Box style={{ height: 1, background: '#E2E8F0' }} /&gt;&#10;    &lt;Box style={{ display: 'flex', flexDirection: 'row', justifyContent: 'center', alignItems: 'center', padding: '6px 0' }}&gt;&#10;      &lt;Text style={{ fontSize: 14, color: '#94A3B8' }}&gt;↓ 多端访问 ↓&lt;/Text&gt;&#10;    &lt;/Box&gt;&#10;    &lt;Box style={{ height: 1, background: '#E2E8F0' }} /&gt;&#10;    &lt;Box style={{ background: 'linear-gradient(180deg, rgba(124,58,237,0.05) 0%, rgba(236,72,153,0.02) 100%)', padding: '18px 24px' }}&gt;&#10;      &lt;Box style={{ display: 'flex', flexDirection: 'row', alignItems: 'center', gap: 10, marginBottom: 10 }}&gt;&#10;        &lt;Text style={{ fontSize: 17, fontWeight: 'bold', color: '#7C3AED' }}&gt;L4 应用层 · 各角色入口&lt;/Text&gt;&#10;      &lt;/Box&gt;&#10;      &lt;Text style={{ fontSize: 14, color: '#334155', lineHeight: 1.5 }}&gt;店长 / 后厨 / 采购 / 供应商 专属工作台 · 手机 + 电脑 + 大屏&lt;/Text&gt;&#10;    &lt;/Box&gt;&#10;  &lt;/Box&gt;&#10;&#10;  &lt;Box style={{&#10;    background: '#F8FAFC', borderRadius: 8, padding: '12px 20px',&#10;    border: '1px solid #E2E8F0', textAlign: 'center'&#10;  }}&gt;&#10;    &lt;Text style={{ fontSize: 14, color: '#64748B' }}&gt;&#10;      &lt;span style={{ color: '#0891B2' }}&gt;决策在边缘&lt;/span&gt; ·&#10;      &lt;span style={{ color: '#2563EB' }}&gt; 数据在云端&lt;/span&gt; ·&#10;      &lt;span style={{ color: '#7C3AED' }}&gt; 智能在两端&lt;/span&gt;&#10;    &lt;/Text&gt;&#10;  &lt;/Box&gt;&#10;&#10;  &lt;Box style={{ position: 'absolute', bottom: 28, right: 50 }}&gt;&#10;    &lt;Text style={{ fontSize: 13, color: 'rgba(100,116,139,0.4)' }}&gt;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THREE-LAYER ARCHITECTURE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三层闭环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边缘到云端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23875" y="1047750"/>
            <a:ext cx="11144250" cy="3248025"/>
          </a:xfrm>
          <a:prstGeom prst="roundRect">
            <a:avLst>
              <a:gd name="adj" fmla="val 3519"/>
            </a:avLst>
          </a:prstGeom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523875" y="1047750"/>
            <a:ext cx="11144250" cy="885825"/>
          </a:xfrm>
          <a:custGeom>
            <a:pathLst>
              <a:path w="1170" h="93">
                <a:moveTo>
                  <a:pt x="1158" y="0"/>
                </a:moveTo>
                <a:cubicBezTo>
                  <a:pt x="1165" y="0"/>
                  <a:pt x="1170" y="5"/>
                  <a:pt x="1170" y="12"/>
                </a:cubicBezTo>
                <a:lnTo>
                  <a:pt x="1170" y="93"/>
                </a:lnTo>
                <a:lnTo>
                  <a:pt x="0" y="93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58" y="0"/>
                </a:lnTo>
                <a:close/>
              </a:path>
            </a:pathLst>
          </a:custGeom>
          <a:gradFill>
            <a:gsLst>
              <a:gs pos="0">
                <a:srgbClr val="0891B2">
                  <a:alpha val="5000"/>
                </a:srgbClr>
              </a:gs>
              <a:gs pos="100000">
                <a:srgbClr val="2563EB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52475" y="121920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r>
              <a:rPr lang="en-US" sz="1275" b="1">
                <a:solidFill>
                  <a:srgbClr val="0891B2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891B2"/>
                </a:solidFill>
                <a:latin typeface="Microsoft YaHei"/>
                <a:ea typeface="Microsoft YaHei"/>
              </a:rPr>
              <a:t>门店侧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52475" y="15144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摄像头实时识别后厨操作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数据本地处理不上云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毫秒级响应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23875" y="193357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591175" y="20002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安全加密传输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23875" y="221932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523875" y="2228850"/>
            <a:ext cx="11144250" cy="885825"/>
          </a:xfrm>
          <a:prstGeom prst="rect">
            <a:avLst/>
          </a:prstGeom>
          <a:gradFill>
            <a:gsLst>
              <a:gs pos="0">
                <a:srgbClr val="2563EB">
                  <a:alpha val="5000"/>
                </a:srgbClr>
              </a:gs>
              <a:gs pos="100000">
                <a:srgbClr val="7C3AED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52475" y="240030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r>
              <a:rPr lang="en-US" sz="1275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云端大脑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52475" y="26955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数据引擎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事件中枢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经营看板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SOP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23875" y="311467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24525" y="31813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多端访问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↓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23875" y="3400425"/>
            <a:ext cx="111442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523875" y="3409950"/>
            <a:ext cx="11144250" cy="885825"/>
          </a:xfrm>
          <a:custGeom>
            <a:pathLst>
              <a:path w="1170" h="93">
                <a:moveTo>
                  <a:pt x="1170" y="81"/>
                </a:moveTo>
                <a:cubicBezTo>
                  <a:pt x="1170" y="88"/>
                  <a:pt x="1165" y="93"/>
                  <a:pt x="1158" y="93"/>
                </a:cubicBezTo>
                <a:lnTo>
                  <a:pt x="12" y="93"/>
                </a:lnTo>
                <a:cubicBezTo>
                  <a:pt x="5" y="93"/>
                  <a:pt x="0" y="88"/>
                  <a:pt x="0" y="81"/>
                </a:cubicBezTo>
                <a:lnTo>
                  <a:pt x="0" y="0"/>
                </a:lnTo>
                <a:lnTo>
                  <a:pt x="1170" y="0"/>
                </a:lnTo>
                <a:close/>
              </a:path>
            </a:pathLst>
          </a:custGeom>
          <a:gradFill>
            <a:gsLst>
              <a:gs pos="0">
                <a:srgbClr val="7C3AED">
                  <a:alpha val="5000"/>
                </a:srgbClr>
              </a:gs>
              <a:gs pos="100000">
                <a:srgbClr val="EC4899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52475" y="358140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275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r>
              <a:rPr lang="en-US" sz="1275" b="1">
                <a:solidFill>
                  <a:srgbClr val="7C3AED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7C3AED"/>
                </a:solidFill>
                <a:latin typeface="Microsoft YaHei"/>
                <a:ea typeface="Microsoft YaHei"/>
              </a:rPr>
              <a:t>各角色入口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52475" y="3876675"/>
            <a:ext cx="1068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店长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后厨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采购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供应商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专属工作台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23875" y="4429125"/>
            <a:ext cx="11144250" cy="390525"/>
          </a:xfrm>
          <a:prstGeom prst="roundRect">
            <a:avLst>
              <a:gd name="adj" fmla="val 195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14375" y="4543425"/>
            <a:ext cx="107632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0891B2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050">
                <a:solidFill>
                  <a:srgbClr val="2563E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2563EB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050">
                <a:solidFill>
                  <a:srgbClr val="7C3AED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7C3AED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8 / 16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89" name="" descr="&lt;Slide style={{ background: '#FFFFFF', padding: '42px 55px 32px' }}&gt;&#10;  &lt;Text style={{ fontSize: 14, color: '#64748B', fontWeight: '500', marginBottom: 6 }}&gt;SYSTEM SCALE&lt;/Text&gt;&#10;  &lt;Text style={{ fontSize: 28, color: '#0F172A', fontWeight: 'bold', marginBottom: 20 }}&gt;四层架构 · 完整落地&lt;/Text&gt;&#10;&#10;  &lt;Box style={{ display: 'flex', flexDirection: 'row', gap: 20 }}&gt;&#10;    &lt;Box style={{ flex: 1, display: 'flex', flexDirection: 'column', gap: 8 }}&gt;&#10;      {[&#10;        { layer: 'L1 设备层', tech: '摄像头 · 温湿度传感器 · RFID标签', color: '#64748B' },&#10;        { layer: 'L2 边缘层', tech: '门店侧智能终端 · 本地实时识别与处理', color: '#0891B2' },&#10;        { layer: 'L3 平台层', tech: '云端数据引擎 · 经营分析 · 多店看板', color: '#2563EB' },&#10;        { layer: 'L4 应用层', tech: '四角色专属工作台 · 手机 / 电脑 / 大屏', color: '#7C3AED' }&#10;      ].map((item, i) =&gt; (&#10;        &lt;Box key={i} style={{&#10;          display: 'flex', flexDirection: 'row', alignItems: 'center', gap: 12,&#10;          background: '#F8FAFC', borderRadius: 8, padding: '12px 16px',&#10;          borderLeft: `3px solid ${item.color}`,&#10;          border: '1px solid #E2E8F0'&#10;        }}&gt;&#10;          &lt;Text style={{&#10;            fontSize: 16, fontWeight: 'bold', color: item.color,&#10;            minWidth: 82&#10;          }}&gt;{item.layer}&lt;/Text&gt;&#10;          &lt;Text style={{ fontSize: 14, color: '#334155', lineHeight: 1.4 }}&gt;{item.tech}&lt;/Text&gt;&#10;        &lt;/Box&gt;&#10;      ))}&#10;    &lt;/Box&gt;&#10;&#10;    &lt;Box style={{ width: 230, display: 'flex', flexDirection: 'column', gap: 10 }}&gt;&#10;      &lt;Box style={{&#10;        borderRadius: 10, padding: '18px 16px',&#10;        background: 'linear-gradient(135deg, rgba(37,99,235,0.04) 0%, rgba(124,58,237,0.02) 100%)',&#10;        border: '1px solid #E2E8F0', textAlign: 'center'&#10;      }}&gt;&#10;        &lt;Text style={{ fontSize: 40, fontWeight: 'bold', backgroundImage: 'linear-gradient(135deg, #2563EB 0%, #7C3AED 100%)', backgroundClip: 'text', color: 'transparent', lineHeight: 1 }}&gt;完整&lt;/Text&gt;&#10;        &lt;Text style={{ fontSize: 14, color: '#64748B', marginTop: 2 }}&gt;闭环系统&lt;/Text&gt;&#10;      &lt;/Box&gt;&#10;&#10;      &lt;Box style={{ display: 'flex', flexDirection: 'row', gap: 8 }}&gt;&#10;        &lt;Box style={{ flex: 1, background: '#EFF6FF', borderRadius: 8, padding: '12px 10px', textAlign: 'center', border: '1px solid #BFDBFE' }}&gt;&#10;          &lt;Text style={{ fontSize: 22, fontWeight: 'bold', color: '#2563EB' }}&gt;9&lt;/Text&gt;&#10;          &lt;Text style={{ fontSize: 11, color: '#64748B' }}&gt;核心模块&lt;/Text&gt;&#10;        &lt;/Box&gt;&#10;        &lt;Box style={{ flex: 1, background: '#F5F3FF', borderRadius: 8, padding: '12px 10px', textAlign: 'center', border: '1px solid #DDD6FE' }}&gt;&#10;          &lt;Text style={{ fontSize: 22, fontWeight: 'bold', color: '#7C3AED' }}&gt;19&lt;/Text&gt;&#10;          &lt;Text style={{ fontSize: 11, color: '#64748B' }}&gt;数据表&lt;/Text&gt;&#10;        &lt;/Box&gt;&#10;      &lt;/Box&gt;&#10;&#10;      &lt;Box style={{ display: 'flex', flexDirection: 'row', gap: 8 }}&gt;&#10;        &lt;Box style={{ flex: 1, background: '#ECFEFF', borderRadius: 8, padding: '12px 10px', textAlign: 'center', border: '1px solid #A5F3FC' }}&gt;&#10;          &lt;Text style={{ fontSize: 22, fontWeight: 'bold', color: '#0891B2' }}&gt;129&lt;span style={{ fontSize: 12 }}&gt;&lt;/span&gt;&lt;/Text&gt;&#10;          &lt;Text style={{ fontSize: 11, color: '#64748B' }}&gt;功能项&lt;/Text&gt;&#10;        &lt;/Box&gt;&#10;        &lt;Box style={{ flex: 1, background: '#FFFBEB', borderRadius: 8, padding: '12px 10px', textAlign: 'center', border: '1px solid #FDE68A' }}&gt;&#10;          &lt;Text style={{ fontSize: 18, fontWeight: 'bold', color: '#D97706' }}&gt;6大能力&lt;/Text&gt;&#10;          &lt;Text style={{ fontSize: 11, color: '#64748B' }}&gt;数据引擎&lt;/Text&gt;&#10;        &lt;/Box&gt;&#10;      &lt;/Box&gt;&#10;    &lt;/Box&gt;&#10;  &lt;/Box&gt;&#10;&#10;  &lt;Box style={{ position: 'absolute', bottom: 28, right: 50 }}&gt;&#10;    &lt;Text style={{ fontSize: 13, color: 'rgba(100,116,139,0.4)' }}&gt;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SYSTEM SCALE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四层架构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完整落地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552450" y="11334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552450" y="11334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04850" y="12668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L1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设备层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600200" y="1247775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摄像头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温湿度传感器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RFID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552450" y="16668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552450" y="16668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04850" y="18002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20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600200" y="1781175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门店侧智能终端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本地实时识别与处理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552450" y="22002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552450" y="22002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04850" y="23336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600200" y="2314575"/>
            <a:ext cx="21050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云端数据引擎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经营分析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多店看板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52450" y="2733675"/>
            <a:ext cx="8763000" cy="457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552450" y="2733675"/>
            <a:ext cx="8763000" cy="457200"/>
          </a:xfrm>
          <a:custGeom>
            <a:pathLst>
              <a:path w="920" h="4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3"/>
                </a:lnTo>
                <a:cubicBezTo>
                  <a:pt x="3" y="45"/>
                  <a:pt x="5" y="47"/>
                  <a:pt x="7" y="48"/>
                </a:cubicBezTo>
                <a:cubicBezTo>
                  <a:pt x="3" y="47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04850" y="286702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600200" y="2847975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四角色专属工作台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手机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电脑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9477375" y="1133475"/>
            <a:ext cx="2190750" cy="981075"/>
          </a:xfrm>
          <a:prstGeom prst="roundRect">
            <a:avLst>
              <a:gd name="adj" fmla="val 9709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629775" y="1304925"/>
            <a:ext cx="188595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0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629775" y="1781175"/>
            <a:ext cx="18859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闭环系统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9477375" y="2209800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572625" y="2324100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72625" y="258127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核心模块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10610850" y="2209800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706100" y="2324100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7C3AED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706100" y="258127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数据表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9477375" y="2924175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9572625" y="3038475"/>
            <a:ext cx="8667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0891B2"/>
                </a:soli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572625" y="3295650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功能项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0610850" y="2924175"/>
            <a:ext cx="1057275" cy="619125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706100" y="3038475"/>
            <a:ext cx="8667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D97706"/>
                </a:solidFill>
                <a:latin typeface="Microsoft YaHei"/>
                <a:ea typeface="Microsoft YaHei"/>
              </a:rPr>
              <a:t>6</a:t>
            </a:r>
            <a:r>
              <a:rPr lang="zh-CN" sz="1350" b="1">
                <a:solidFill>
                  <a:srgbClr val="D97706"/>
                </a:solidFill>
                <a:latin typeface="Microsoft YaHei"/>
                <a:ea typeface="Microsoft YaHei"/>
              </a:rPr>
              <a:t>大能力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706100" y="3248025"/>
            <a:ext cx="8667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401425" y="64389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" name="" descr="&lt;Slide&gt;&#10;  &lt;Box style={{ position: 'relative', width: '100%', height: '100%', background: 'linear-gradient(135deg, #EEF2FF 0%, #EDE9FE 40%, #EEF2FF 100%)' }}&gt;&#10;    &lt;Box style={{ position: 'absolute', top: -60, left: -60, width: 350, height: 350, borderRadius: '50%', background: 'radial-gradient(circle, rgba(99,102,241,0.08) 0%, transparent 70%)' }} /&gt;&#10;    &lt;Box style={{ position: 'absolute', bottom: -80, right: -80, width: 400, height: 400, borderRadius: '50%', background: 'radial-gradient(circle, rgba(37,99,235,0.05) 0%, transparent 70%)' }} /&gt;&#10;&#10;    &lt;Box style={{ position: 'relative', zIndex: 2, padding: '70px 80px', height: '100%', display: 'flex', flexDirection: 'column', justifyContent: 'center' }}&gt;&#10;      &lt;Text style={{ fontSize: 13, color: '#6366F1', fontWeight: '600', letterSpacing: 4, marginBottom: 16 }}&gt;DETAILED DESIGN&lt;/Text&gt;&#10;      &lt;Text style={{ fontSize: 46, color: '#0F172A', fontWeight: 'bold', lineHeight: 1.15 }}&gt;详细设计&lt;/Text&gt;&#10;      &lt;Text style={{ fontSize: 18, color: '#6366F1', marginTop: 18 }}&gt;9 大模块 · 19 张表 · 129 功能映射&lt;/Text&gt;&#10;    &lt;/Box&gt;&#10;&#10;    &lt;Box style={{ position: 'absolute', bottom: 28, right: 50, zIndex: 2 }}&gt;&#10;      &lt;Text style={{ fontSize: 13, color: 'rgba(100,116,139,0.5)' }}&gt;10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F2FF"/>
              </a:gs>
              <a:gs pos="40000">
                <a:srgbClr val="EDE9FE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-571500" y="-571500"/>
            <a:ext cx="3333750" cy="3333750"/>
          </a:xfrm>
          <a:custGeom>
            <a:pathLst>
              <a:path w="350" h="350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0" y="78"/>
                  <a:pt x="350" y="175"/>
                </a:cubicBezTo>
                <a:lnTo>
                  <a:pt x="350" y="175"/>
                </a:lnTo>
                <a:cubicBezTo>
                  <a:pt x="350" y="272"/>
                  <a:pt x="272" y="350"/>
                  <a:pt x="175" y="350"/>
                </a:cubicBezTo>
                <a:lnTo>
                  <a:pt x="175" y="350"/>
                </a:lnTo>
                <a:cubicBezTo>
                  <a:pt x="78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8"/>
                  <a:pt x="78" y="0"/>
                  <a:pt x="175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9144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2000" y="27813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6366F1"/>
                </a:solidFill>
                <a:latin typeface="Microsoft YaHei"/>
                <a:ea typeface="Microsoft YaHei"/>
              </a:rPr>
              <a:t>DETAILED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3086100"/>
            <a:ext cx="106680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450" b="1">
                <a:solidFill>
                  <a:srgbClr val="0F172A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大模块</a:t>
            </a: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 · 19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张表</a:t>
            </a:r>
            <a:r>
              <a:rPr lang="en-US" sz="1350">
                <a:solidFill>
                  <a:srgbClr val="6366F1"/>
                </a:solidFill>
                <a:latin typeface="Microsoft YaHei"/>
                <a:ea typeface="Microsoft YaHei"/>
              </a:rPr>
              <a:t> · 129 </a:t>
            </a:r>
            <a:r>
              <a:rPr lang="zh-CN" sz="1350">
                <a:solidFill>
                  <a:srgbClr val="6366F1"/>
                </a:solidFill>
                <a:latin typeface="Microsoft YaHei"/>
                <a:ea typeface="Microsoft YaHei"/>
              </a:rPr>
              <a:t>功能映射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2" name="" descr="&lt;Slide style={{ background: '#FFFFFF', padding: '40px 55px 30px' }}&gt;&#10;  &lt;Box style={{ display: 'flex', flexDirection: 'row', marginBottom: 16 }}&gt;&#10;    &lt;Box style={{ width: 160, background: 'linear-gradient(180deg, rgba(37,99,235,0.06) 0%, rgba(37,99,235,0.02) 100%)', borderRadius: 8, padding: '14px 14px', marginRight: 18, display: 'flex', flexDirection: 'column', justifyContent: 'center' }}&gt;&#10;      &lt;Text style={{ fontSize: 12, color: '#2563EB', fontWeight: '600', letterSpacing: 2, marginBottom: 6 }}&gt;9 CORE&lt;/Text&gt;&#10;      &lt;Text style={{ fontSize: 12, color: '#2563EB', fontWeight: '600', letterSpacing: 2 }}&gt;MODULES&lt;/Text&gt;&#10;      &lt;Text style={{ fontSize: 11, color: '#64748B', marginTop: 8, lineHeight: 1.4 }}&gt;核心能力模块&lt;/Text&gt;&#10;    &lt;/Box&gt;&#10;    &lt;Box style={{ flex: 1 }}&gt;&#10;      &lt;Text style={{ fontSize: 26, color: '#0F172A', fontWeight: 'bold' }}&gt;完整覆盖 · 从需求到落地&lt;/Text&gt;&#10;      &lt;Text style={{ fontSize: 13, color: '#64748B', marginTop: 5 }}&gt;129项功能 → 能力模块 → 业务场景 → 数据支撑&lt;/Text&gt;&#10;    &lt;/Box&gt;&#10;  &lt;/Box&gt;&#10;&#10;  &lt;Box style={{ display: 'flex', flexDirection: 'column', gap: 6 }}&gt;&#10;    {[&#10;      { num: '①', name: '边缘AI引擎', desc: '后厨全工位自动识别 + 前厅双模式分析', new: false },&#10;      { num: '②', name: '事件中枢', desc: '18类业务事件的统一调度与分发', new: false },&#10;      { num: '③', name: '数据引擎', desc: '销量预测 / 库存优化 / 损耗分析 / 成本核算', new: false },&#10;      { num: '④', name: '系统集成', desc: '对接收银、ERP、采购等现有系统', new: false },&#10;      { num: '⑤', name: '告警中心', desc: '分级告警 + 多渠道即时推送', new: false },&#10;      { num: '★⑥', name: 'SOP合规引擎', desc: '6种检查策略 + 违规自动记录与追踪', new: true },&#10;      { num: '★⑦', name: '知识库', desc: '菜品知识 / 操作规范 智能检索问答', new: true },&#10;      { num: '★⑧', name: '仓库IoT', desc: '批次追溯 + 先进先出监控 + 温湿度预警', new: true },&#10;      { num: '★⑨', name: '会员营销', desc: '会员识别 + 积分体系 + 营销活动管理', new: true }&#10;    ].map((m, i) =&gt; (&#10;      &lt;Box key={i} style={{&#10;        display: 'flex', flexDirection: 'row', alignItems: 'center', gap: 10,&#10;        background: m.new ? '#EFF6FF' : '#F8FAFC',&#10;        borderRadius: 7, padding: '9px 14px',&#10;        borderLeft: m.new ? '3px solid #3B82F6' : '3px solid #E2E8F0',&#10;        border: m.new ? '1px solid #BFDBFE' : '1px solid #E2E8F0'&#10;      }}&gt;&#10;        &lt;Text style={{&#10;          fontSize: m.new ? 14 : 13,&#10;          fontWeight: 'bold',&#10;          color: m.new ? '#2563EB' : '#94A3B8',&#10;          minWidth: 28&#10;        }}&gt;{m.num}&lt;/Text&gt;&#10;        &lt;Text style={{&#10;          fontSize: 14,&#10;          fontWeight: '600',&#10;          color: '#0F172A',&#10;          minWidth: 100&#10;        }}&gt;{m.name}&lt;/Text&gt;&#10;        &lt;Text style={{ fontSize: 12, color: '#64748B', flex: 1 }}&gt;{m.desc}&lt;/Text&gt;&#10;      &lt;/Box&gt;&#10;    ))}&#10;  &lt;/Box&gt;&#10;&#10;  &lt;Text style={{ fontSize: 11, color: '#94A3B8', marginTop: 8 }}&gt;★ v1.1 新增模块（原版5个核心模块）&lt;/Text&gt;&#10;&#10;  &lt;Box style={{ position: 'absolute', bottom: 28, right: 50 }}&gt;&#10;    &lt;Text style={{ fontSize: 13, color: 'rgba(100,116,139,0.4)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23875" y="381000"/>
            <a:ext cx="1524000" cy="866775"/>
          </a:xfrm>
          <a:prstGeom prst="roundRect">
            <a:avLst>
              <a:gd name="adj" fmla="val 8791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100000">
                <a:srgbClr val="2563EB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7225" y="51435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Microsoft YaHei"/>
                <a:ea typeface="Microsoft YaHei"/>
              </a:rPr>
              <a:t>9 CORE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57225" y="7143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Microsoft YaHei"/>
                <a:ea typeface="Microsoft YaHei"/>
              </a:rPr>
              <a:t>MODULES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57225" y="933450"/>
            <a:ext cx="12573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核心能力模块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219325" y="381000"/>
            <a:ext cx="944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完整覆盖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从需求到落地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219325" y="733425"/>
            <a:ext cx="944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能力模块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业务场景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数据支撑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14001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52450" y="14001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149542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47750" y="14859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边缘</a:t>
            </a: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095500" y="14954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后厨全工位自动识别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前厅双模式分析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52450" y="179070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52450" y="179070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188595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7750" y="18764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事件中枢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095500" y="188595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类业务事件的统一调度与分发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52450" y="218122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552450" y="218122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227647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47750" y="226695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095500" y="227647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销量预测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库存优化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损耗分析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成本核算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52450" y="257175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52450" y="257175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47750" y="26574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系统集成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095500" y="266700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对接收银、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ERP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、采购等现有系统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52450" y="29622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52450" y="29622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305752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47750" y="30480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告警中心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095500" y="30575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分级告警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多渠道即时推送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52450" y="335280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52450" y="335280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5800" y="34385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★⑥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47750" y="34385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SOP</a:t>
            </a: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095500" y="344805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种检查策略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违规自动记录与追踪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52450" y="374332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52450" y="374332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3829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★⑦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47750" y="382905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095500" y="383857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菜品知识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操作规范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智能检索问答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52450" y="4133850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52450" y="4133850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4219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★⑧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47750" y="42195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仓库</a:t>
            </a: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IoT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095500" y="4229100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批次追溯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先进先出监控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温湿度预警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52450" y="4524375"/>
            <a:ext cx="11144250" cy="33337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52450" y="4524375"/>
            <a:ext cx="11144250" cy="333375"/>
          </a:xfrm>
          <a:custGeom>
            <a:pathLst>
              <a:path w="1170" h="35">
                <a:moveTo>
                  <a:pt x="7" y="0"/>
                </a:moveTo>
                <a:cubicBezTo>
                  <a:pt x="5" y="0"/>
                  <a:pt x="3" y="2"/>
                  <a:pt x="3" y="4"/>
                </a:cubicBezTo>
                <a:lnTo>
                  <a:pt x="3" y="31"/>
                </a:lnTo>
                <a:cubicBezTo>
                  <a:pt x="3" y="33"/>
                  <a:pt x="4" y="35"/>
                  <a:pt x="6" y="35"/>
                </a:cubicBezTo>
                <a:cubicBezTo>
                  <a:pt x="3" y="35"/>
                  <a:pt x="0" y="32"/>
                  <a:pt x="0" y="28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4610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★⑨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47750" y="46101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095500" y="4619625"/>
            <a:ext cx="9439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会员识别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积分体系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营销活动管理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3875" y="4933950"/>
            <a:ext cx="1114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★ v1.1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新增模块（原版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个核心模块）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77" name="" descr="&lt;Slide style={{ background: '#FFFFFF', padding: '42px 55px 32px', display: 'flex', flexDirection: 'column', alignItems: 'center' }}&gt;&#10;  &lt;Text style={{ fontSize: 14, color: '#64748B', fontWeight: '500', marginBottom: 6 }}&gt;DATA FOUNDATION&lt;/Text&gt;&#10;  &lt;Text style={{ fontSize: 26, color: '#0F172A', fontWeight: 'bold', marginBottom: 18 }}&gt;完整数据体系&lt;/Text&gt;&#10;&#10;  &lt;Box style={{&#10;    display: 'flex', flexDirection: 'column', alignItems: 'center', marginBottom: 16&#10;  }}&gt;&#10;    &lt;Text style={{&#10;      fontSize: 60,&#10;      fontWeight: 'bold',&#10;      backgroundImage: 'linear-gradient(135deg, #2563EB 0%, #0891B2 100%)',&#10;      backgroundClip: 'text', color: 'transparent', lineHeight: 1&#10;    }}&gt;19&lt;span style={{ fontSize: 36 }}&gt;张&lt;/span&gt;&lt;/Text&gt;&#10;    &lt;Text style={{ fontSize: 14, color: '#64748B', marginTop: 3 }}&gt;核心业务数据表 · 覆盖用户/运营/供应链/营销全领域&lt;/Text&gt;&#10;  &lt;/Box&gt;&#10;&#10;  &lt;Box style={{ display: 'flex', flexDirection: 'row', flexWrap: 'wrap', gap: 6, justifyContent: 'center', maxWidth: 860, marginBottom: 18 }}&gt;&#10;    {['用户与权限', 'SOP标准模板', '合规检查记录', '知识库内容', '会员档案', '积分流水', '组织架构', '操作审计', '告警通知'].map((t, i) =&gt; (&#10;      &lt;Box key={i} style={{&#10;        background: '#F8FAFC', borderRadius: 6,&#10;        padding: '5px 12px', border: '1px solid #E2E8F0'&#10;      }}&gt;&#10;        &lt;Text style={{ fontSize: 12, color: '#334155' }}&gt;{t}&lt;/Text&gt;&#10;      &lt;/Box&gt;&#10;    ))}&#10;    &lt;Box style={{&#10;      background: '#EFF6FF', borderRadius: 6,&#10;      padding: '5px 12px', border: '1px solid #BFDBFE'&#10;    }}&gt;&#10;      &lt;Text style={{ fontSize: 12, color: '#2563EB' }}&gt;+ 更多业务表...&lt;/Text&gt;&#10;    &lt;/Box&gt;&#10;  &lt;/Box&gt;&#10;&#10;  &lt;Box style={{ width: 100, height: 2, background: 'linear-gradient(90deg, transparent, #0891B2, #2563EB, transparent)', borderRadius: 1, marginBottom: 14 }} /&gt;&#10;&#10;  &lt;Box style={{ display: 'flex', flexDirection: 'column', alignItems: 'center', gap: 2 }}&gt;&#10;    &lt;Text style={{ fontSize: 18, color: '#0F172A', fontWeight: '600', lineHeight: 1.5 }}&gt;视频不上云 · 决策在边缘 · 数据在云端 · 智能在两端&lt;/Text&gt;&#10;  &lt;/Box&gt;&#10;&#10;  &lt;Box style={{ position: 'absolute', bottom: 28, right: 50 }}&gt;&#10;    &lt;Text style={{ fontSize: 13, color: 'rgba(100,116,139,0.4)'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476875" y="40005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DATA FOUNDATION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53050" y="619125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完整数据体系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610225" y="1095375"/>
            <a:ext cx="98107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19</a:t>
            </a:r>
            <a:r>
              <a:rPr lang="zh-CN" sz="27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581525" y="1809750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核心业务数据表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覆盖用户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运营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供应链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营销全领域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2333625" y="2124075"/>
            <a:ext cx="8001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2447925" y="21717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用户与权限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190875" y="2124075"/>
            <a:ext cx="93345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305175" y="217170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SOP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标准模板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181475" y="2124075"/>
            <a:ext cx="9144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295775" y="21717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合规检查记录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153025" y="2124075"/>
            <a:ext cx="8001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267325" y="21717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知识库内容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102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1245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会员档案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75322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6752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积分流水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4961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104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组织架构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23912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5342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操作审计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982075" y="2124075"/>
            <a:ext cx="685800" cy="238125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096375" y="2171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告警通知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505450" y="2419350"/>
            <a:ext cx="1000125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619750" y="24669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Microsoft YaHei"/>
                <a:ea typeface="Microsoft YaHei"/>
              </a:rPr>
              <a:t>+ </a:t>
            </a:r>
            <a:r>
              <a:rPr lang="zh-CN" sz="900">
                <a:solidFill>
                  <a:srgbClr val="2563EB"/>
                </a:solidFill>
                <a:latin typeface="Microsoft YaHei"/>
                <a:ea typeface="Microsoft YaHei"/>
              </a:rPr>
              <a:t>更多业务表</a:t>
            </a:r>
            <a:r>
              <a:rPr lang="en-US" sz="900">
                <a:solidFill>
                  <a:srgbClr val="2563EB"/>
                </a:solidFill>
                <a:latin typeface="Microsoft YaHei"/>
                <a:ea typeface="Microsoft YaHei"/>
              </a:rPr>
              <a:t>...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619750" y="2533650"/>
            <a:ext cx="9525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33333">
                <a:srgbClr val="0891B2"/>
              </a:gs>
              <a:gs pos="66667">
                <a:srgbClr val="2563EB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52900" y="2686050"/>
            <a:ext cx="3886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视频不上云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06" name="" descr="&lt;Slide style={{ background: '#FFFFFF', padding: '40px 55px 30px' }}&gt;&#10;  &lt;Text style={{ fontSize: 14, color: '#64748B', fontWeight: '500', marginBottom: 5 }}&gt;DOCUMENT CHAIN&lt;/Text&gt;&#10;  &lt;Text style={{ fontSize: 26, color: '#0F172A', fontWeight: 'bold', marginBottom: 18 }}&gt;六层文档 · 全程可追溯&lt;/Text&gt;&#10;&#10;  &lt;Box style={{ display: 'flex', flexDirection: 'row', gap: 20 }}&gt;&#10;    &lt;Box style={{ flex: 1, display: 'flex', flexDirection: 'column', gap: 7 }}&gt;&#10;      {[&#10;        { num: '1', name: '市场调研', sub: '行业数据 + 竞品分析 + 政策红利', color: '#DC2626' },&#10;        { num: '2', name: '产品需求', sub: '129项功能 · 完整业务场景覆盖', color: '#D97706' },&#10;        { num: '3', name: '产品设计', sub: '产品定位 + 竞品差异化 + 全景分析', color: '#EA580C' },&#10;        { num: '4', name: '解决方案', sub: '技术选型 + 部署方案 + 实施路径', color: '#2563EB' },&#10;        { num: '5', name: '总体架构', sub: '系统视图 + 架构决策记录', color: '#7C3AED' },&#10;        { num: '6', name: '详细设计', sub: '9大模块 · 19张表 · 129功能完整映射', color: '#0891B2', highlight: true }&#10;      ].map((item, i) =&gt; (&#10;        &lt;Box key={i} style={{&#10;          display: 'flex', flexDirection: 'row', alignItems: 'center', gap: 10,&#10;          background: item.highlight ? '#ECFEFF' : '#F8FAFC',&#10;          borderRadius: 7, padding: '10px 12px',&#10;          border: item.highlight ? '1px solid #99F6E4' : '1px solid #E2E8F0'&#10;        }}&gt;&#10;          &lt;Box style={{&#10;            width: 24, height: 24, borderRadius: '50%',&#10;            background: item.color, display: 'flex',&#10;            alignItems: 'center', justifyContent: 'center', flexShrink: 0&#10;          }}&gt;&#10;            &lt;Text style={{ fontSize: 12, fontWeight: 'bold', color: '#FFF' }}&gt;{item.num}&lt;/Text&gt;&#10;          &lt;/Box&gt;&#10;          &lt;Box&gt;&#10;            &lt;Text style={{&#10;              fontSize: 14,&#10;              fontWeight: '600',&#10;              color: item.highlight ? '#0E7490' : '#0F172A'&#10;            }}&gt;{item.name}&lt;/Text&gt;&#10;            &lt;Text style={{ fontSize: 11, color: '#64748B' }}&gt;{item.sub}&lt;/Text&gt;&#10;          &lt;/Box&gt;&#10;        &lt;/Box&gt;&#10;      ))}&#10;    &lt;/Box&gt;&#10;&#10;    &lt;Box style={{ width: 220, display: 'flex', flexDirection: 'column', gap: 8 }}&gt;&#10;      &lt;Box style={{&#10;        borderRadius: 8, padding: '14px 14px',&#10;        background: 'linear-gradient(135deg, rgba(37,99,235,0.04) 0%, rgba(124,58,237,0.02) 100%)',&#10;        border: '1px solid #E2E8F0'&#10;      }}&gt;&#10;        &lt;Text style={{ fontSize: 12, color: '#2563EB', fontWeight: '600', marginBottom: 8 }}&gt;链路通过率&lt;/Text&gt;&#10;        {[&#10;          { label: '市场→需求', rate: '96%' },&#10;          { label: '需求→设计', rate: '100%' },&#10;          { label: '设计→方案', rate: '100%' },&#10;          { label: '方案→架构', rate: '92%' },&#10;          { label: '架构→详细', rate: '95%' }&#10;        ].map((r, i) =&gt; (&#10;          &lt;Box key={i} style={{ display: 'flex', flexDirection: 'row', justifyContent: 'space-between', alignItems: 'center', padding: '4px 0', borderBottom: i &lt; 4 ? '1px solid #F1F5F9' : 'none' }}&gt;&#10;            &lt;Text style={{ fontSize: 12, color: '#64748B' }}&gt;{r.label}&lt;/Text&gt;&#10;            &lt;Text style={{ fontSize: 12, fontWeight: '600', color: r.rate === '100%' ? '#059669' : '#2563EB' }}&gt;{r.rate}&lt;/Text&gt;&#10;          &lt;/Box&gt;&#10;        ))}&#10;      &lt;/Box&gt;&#10;&#10;      &lt;Box style={{&#10;        borderRadius: 8, padding: '14px',&#10;        background: '#F8FAFC', border: '1px solid #E2E8F0'&#10;      }}&gt;&#10;        &lt;Text style={{ fontSize: 12, color: '#64748B', marginBottom: 5 }}&gt;文档标准&lt;/Text&gt;&#10;        &lt;Text style={{ fontSize: 12, color: '#334155', lineHeight: 1.5 }}&gt;每份文档包含：版本 / 日期 / 上游依据 / 下游交付 — 形成完整追溯链&lt;/Text&gt;&#10;      &lt;/Box&gt;&#10;&#10;      &lt;Box style={{&#10;        borderRadius: 8, padding: '14px',&#10;        background: '#ECFDF5', border: '1px solid #A7F3D0'&#10;      }}&gt;&#10;        &lt;Text style={{ fontSize: 12, color: '#059669', fontWeight: '600', marginBottom: 3 }}&gt;✅ 数据一致性&lt;/Text&gt;&#10;        &lt;Text style={{ fontSize: 11, color: '#64748B', lineHeight: 1.4 }}&gt;全链路核心数据已统一校验，确保各环节信息一致&lt;/Text&gt;&#10;      &lt;/Box&gt;&#10;    &lt;/Box&gt;&#10;  &lt;/Box&gt;&#10;&#10;  &lt;Box style={{ position: 'absolute', bottom: 28, right: 50 }}&gt;&#10;    &lt;Text style={{ fontSize: 13, color: 'rgba(100,116,139,0.4)'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DOCUMENT CHAIN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六层文档</a:t>
            </a: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全程可追溯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23875" y="10668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38175" y="12001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23900" y="12477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62025" y="116205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市场调研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62025" y="1323975"/>
            <a:ext cx="1504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行业数据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竞品分析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政策红利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23875" y="16192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38175" y="17526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23900" y="18002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62025" y="17145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产品需求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62025" y="1876425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完整业务场景覆盖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23875" y="21717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38175" y="23050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23900" y="23526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62025" y="22669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产品设计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62025" y="2428875"/>
            <a:ext cx="1609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产品定位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竞品差异化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全景分析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23875" y="27241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38175" y="28575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23900" y="29051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62025" y="28194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解决方案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62025" y="2981325"/>
            <a:ext cx="1504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技术选型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部署方案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实施路径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23875" y="327660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38175" y="340995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23900" y="34575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62025" y="337185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总体架构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62025" y="3533775"/>
            <a:ext cx="1171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系统视图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架构决策记录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23875" y="3829050"/>
            <a:ext cx="8858250" cy="485775"/>
          </a:xfrm>
          <a:prstGeom prst="roundRect">
            <a:avLst>
              <a:gd name="adj" fmla="val 13725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638175" y="3962400"/>
            <a:ext cx="228600" cy="228600"/>
          </a:xfrm>
          <a:custGeom>
            <a:pathLst>
              <a:path w="24" h="24">
                <a:moveTo>
                  <a:pt x="12" y="0"/>
                </a:moveTo>
                <a:lnTo>
                  <a:pt x="12" y="0"/>
                </a:lnTo>
                <a:cubicBezTo>
                  <a:pt x="19" y="0"/>
                  <a:pt x="24" y="5"/>
                  <a:pt x="24" y="12"/>
                </a:cubicBezTo>
                <a:lnTo>
                  <a:pt x="24" y="12"/>
                </a:lnTo>
                <a:cubicBezTo>
                  <a:pt x="24" y="19"/>
                  <a:pt x="19" y="24"/>
                  <a:pt x="12" y="24"/>
                </a:cubicBezTo>
                <a:lnTo>
                  <a:pt x="12" y="24"/>
                </a:lnTo>
                <a:cubicBezTo>
                  <a:pt x="5" y="24"/>
                  <a:pt x="0" y="19"/>
                  <a:pt x="0" y="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23900" y="40100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62025" y="39243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62025" y="40862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大模块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19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张表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129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功能完整映射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572625" y="1066800"/>
            <a:ext cx="2095500" cy="161925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705975" y="120015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Microsoft YaHei"/>
                <a:ea typeface="Microsoft YaHei"/>
              </a:rPr>
              <a:t>链路通过率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9705975" y="14192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705975" y="14573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市场→需求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296650" y="14573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96%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9705975" y="16478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705975" y="16859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需求→设计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0" y="16859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705975" y="18764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705975" y="19145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设计→方案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239500" y="19145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705975" y="2105025"/>
            <a:ext cx="1828800" cy="238125"/>
          </a:xfrm>
          <a:custGeom>
            <a:pathLst>
              <a:path w="192" h="25">
                <a:moveTo>
                  <a:pt x="0" y="24"/>
                </a:moveTo>
                <a:lnTo>
                  <a:pt x="192" y="24"/>
                </a:lnTo>
                <a:lnTo>
                  <a:pt x="19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705975" y="2143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方案→架构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96650" y="21431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92%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705975" y="2371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架构→详细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296650" y="23717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latin typeface="Microsoft YaHei"/>
                <a:ea typeface="Microsoft YaHei"/>
              </a:rPr>
              <a:t>95%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9572625" y="2762250"/>
            <a:ext cx="2095500" cy="87630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705975" y="289560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文档标准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705975" y="3086100"/>
            <a:ext cx="18288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每份文档包含：版本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日期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上游依据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下游交付</a:t>
            </a:r>
            <a:r>
              <a:rPr lang="en-US" sz="900">
                <a:solidFill>
                  <a:srgbClr val="334155"/>
                </a:solidFill>
                <a:latin typeface="Microsoft YaHei"/>
                <a:ea typeface="Microsoft YaHei"/>
              </a:rPr>
              <a:t> — </a:t>
            </a:r>
            <a:r>
              <a:rPr lang="zh-CN" sz="900">
                <a:solidFill>
                  <a:srgbClr val="334155"/>
                </a:solidFill>
                <a:latin typeface="Microsoft YaHei"/>
                <a:ea typeface="Microsoft YaHei"/>
              </a:rPr>
              <a:t>形成完整追溯链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9572625" y="3714750"/>
            <a:ext cx="2095500" cy="790575"/>
          </a:xfrm>
          <a:prstGeom prst="roundRect">
            <a:avLst>
              <a:gd name="adj" fmla="val 963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705975" y="384810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59669"/>
                </a:solidFill>
                <a:latin typeface="Microsoft YaHei"/>
                <a:ea typeface="Microsoft YaHei"/>
              </a:rPr>
              <a:t>✅ </a:t>
            </a:r>
            <a:r>
              <a:rPr lang="zh-CN" sz="900" b="1">
                <a:solidFill>
                  <a:srgbClr val="059669"/>
                </a:solidFill>
                <a:latin typeface="Microsoft YaHei"/>
                <a:ea typeface="Microsoft YaHei"/>
              </a:rPr>
              <a:t>数据一致性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705975" y="4019550"/>
            <a:ext cx="18288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全链路核心数据已统一校验，确保各环节信息一致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63" name="" descr="&lt;Slide style={{ background: '#FFFFFF', padding: '40px 55px 30px' }}&gt;&#10;  &lt;Text style={{ fontSize: 14, color: '#64748B', fontWeight: '500', marginBottom: 5 }}&gt;SPRINT PLAN&lt;/Text&gt;&#10;  &lt;Text style={{ fontSize: 26, color: '#0F172A', fontWeight: 'bold', marginBottom: 20 }}&gt;D1-D4 · 冲刺四步走&lt;/Text&gt;&#10;&#10;  &lt;Box style={{ display: 'flex', flexDirection: 'column', gap: 10 }}&gt;&#10;    {[&#10;      {&#10;        id: 'D1', name: '冻品供应链', month: '8月',&#10;        desc: '品牌规格锁定 · 温控追溯 · 退换货流程',&#10;        color: '#2563EB', border: '#BFDBFE', bg: '#EFF6FF'&#10;      },&#10;      {&#10;        id: 'D2', name: '岗位AI助理', month: '8月',&#10;        desc: '店长 / 后厨 / 采购 / 供应商 四角色入口',&#10;        color: '#7C3AED', border: '#DDD6FE', bg: '#F5F3FF'&#10;      },&#10;      {&#10;        id: 'D3', name: '集成测试', month: '9月',&#10;        desc: '双店联调 · 端到端流程验证 · 性能压测',&#10;        color: '#0891B2', border: '#A5F3FC', bg: '#ECFEFF'&#10;      },&#10;      {&#10;        id: 'D4', name: '彩排', month: '9月',&#10;        desc: 'Demo场景打磨 · 讲稿演练 · 应急预案',&#10;        color: '#D97706', border: '#FDE68A', bg: '#FFFBEB'&#10;      }&#10;    ].map((step, i) =&gt; (&#10;      &lt;Box key={i} style={{&#10;        display: 'flex', flexDirection: 'row', alignItems: 'center', gap: 14,&#10;        background: step.bg,&#10;        borderRadius: 8, padding: '14px 18px',&#10;        borderLeft: `4px solid ${step.color}`&#10;      }}&gt;&#10;        &lt;Box style={{&#10;          width: 46, height: 46, borderRadius: 8,&#10;          background: `${step.color}12`, border: `1px solid ${step.border}`,&#10;          display: 'flex', flexDirection: 'column', alignItems: 'center', justifyContent: 'center', flexShrink: 0&#10;        }}&gt;&#10;          &lt;Text style={{ fontSize: 16, fontWeight: 'bold', color: step.color }}&gt;{step.id}&lt;/Text&gt;&#10;          &lt;Text style={{ fontSize: 10, color: '#94A3B8' }}&gt;{step.month}&lt;/Text&gt;&#10;        &lt;/Box&gt;&#10;        &lt;Box style={{ flex: 1 }}&gt;&#10;          &lt;Text style={{ fontSize: 16, fontWeight: '600', color: '#0F172A' }}&gt;{step.name}&lt;/Text&gt;&#10;          &lt;Text style={{ fontSize: 13, color: '#64748B', marginTop: 2 }}&gt;{step.desc}&lt;/Text&gt;&#10;        &lt;/Box&gt;&#10;      &lt;/Box&gt;&#10;    ))}&#10;  &lt;/Box&gt;&#10;&#10;  &lt;Box style={{ position: 'absolute', bottom: 28, right: 50 }}&gt;&#10;    &lt;Text style={{ fontSize: 13, color: 'rgba(100,116,139,0.4)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23875" y="38100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SPRINT PLAN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3875" y="590550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F172A"/>
                </a:solidFill>
                <a:latin typeface="Microsoft YaHei"/>
                <a:ea typeface="Microsoft YaHei"/>
              </a:rPr>
              <a:t>D1-D4 · </a:t>
            </a: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冲刺四步走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61975" y="10858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61975" y="10858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33425" y="12192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563EB">
              <a:alpha val="7059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7250" y="12858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76300" y="14763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304925" y="12573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冻品供应链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304925" y="14668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品牌规格锁定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温控追溯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退换货流程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61975" y="18859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561975" y="18859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733425" y="2019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7C3AED">
              <a:alpha val="7059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20859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76300" y="22764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304925" y="20574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岗位</a:t>
            </a: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助理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04925" y="22669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店长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后厨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采购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供应商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四角色入口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61975" y="26860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561975" y="26860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733425" y="28194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891B2">
              <a:alpha val="7059"/>
            </a:srgbClr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7250" y="28860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91B2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76300" y="30765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304925" y="28575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集成测试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304925" y="30670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双店联调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端到端流程验证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性能压测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61975" y="3486150"/>
            <a:ext cx="11144250" cy="704850"/>
          </a:xfrm>
          <a:prstGeom prst="roundRect">
            <a:avLst>
              <a:gd name="adj" fmla="val 10811"/>
            </a:avLst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561975" y="3486150"/>
            <a:ext cx="11144250" cy="704850"/>
          </a:xfrm>
          <a:custGeom>
            <a:pathLst>
              <a:path w="1170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33425" y="36195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7706">
              <a:alpha val="7059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7250" y="36861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06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152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75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304925" y="3657600"/>
            <a:ext cx="1019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彩排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304925" y="3867150"/>
            <a:ext cx="1019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Demo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场景打磨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讲稿演练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应急预案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96" name="" descr="&lt;Slide style={{ background: '#FFFFFF', padding: '42px 55px 32px' }}&gt;&#10;  &lt;Text style={{ fontSize: 14, color: '#DC2626', fontWeight: '600', letterSpacing: 3, marginBottom: 6 }}&gt;HARD DEADLINE&lt;/Text&gt;&#10;  &lt;Text style={{ fontSize: 26, color: '#0F172A', fontWeight: 'bold', marginBottom: 22 }}&gt;重庆市政府展会亮相&lt;/Text&gt;&#10;&#10;  &lt;Box style={{ display: 'flex', flexDirection: 'column', alignItems: 'center', marginBottom: 22 }}&gt;&#10;    &lt;Text style={{&#10;      fontSize: 64,&#10;      fontWeight: 'bold',&#10;      backgroundImage: 'linear-gradient(135deg, #D97706 0%, #EA580C 100%)',&#10;      backgroundClip: 'text', color: 'transparent', lineHeight: 1&#10;    }}&gt;2026.10&lt;/Text&gt;&#10;    &lt;Text style={{&#10;      fontSize: 30, color: '#0F172A', fontWeight: 'bold',&#10;      marginTop: -2&#10;    }}&gt;重庆&lt;/Text&gt;&#10;  &lt;/Box&gt;&#10;&#10;  &lt;Box style={{&#10;    background: '#FEF2F2', borderRadius: 10,&#10;    padding: '16px 20px', border: '1px solid #FECACA', maxWidth: 660, alignSelf: 'center'&#10;  }}&gt;&#10;    &lt;Text style={{ fontSize: 13, color: '#DC2626', fontWeight: '600', marginBottom: 10 }}&gt;三阶段路线&lt;/Text&gt;&#10;&#10;    &lt;Box style={{ display: 'flex', flexDirection: 'column', gap: 8 }}&gt;&#10;      {[&#10;        { phase: '两店验证', status: '🟡 进行中', statusColor: '#D97706', dotColor: '#D97706' },&#10;        { phase: '区域标准化', status: '⏳ 展会后', statusColor: '#64748B', dotColor: '#2563EB' },&#10;        { phase: '对外输出', status: '⏳ 标准化后', statusColor: '#64748B', dotColor: '#7C3AED' }&#10;      ].map((p, i) =&gt; (&#10;        &lt;Box key={i} style={{ display: 'flex', flexDirection: 'row', alignItems: 'center', gap: 10 }}&gt;&#10;          &lt;Box style={{ width: 8, height: 8, borderRadius: '50%', background: p.dotColor, flexShrink: 0 }} /&gt;&#10;          &lt;Text style={{ fontSize: 14, fontWeight: '600', color: '#334155', flex: 1 }}&gt;{p.phase}&lt;/Text&gt;&#10;          &lt;Text style={{ fontSize: 13, color: p.statusColor }}&gt;{p.status}&lt;/Text&gt;&#10;        &lt;/Box&gt;&#10;      ))}&#10;    &lt;/Box&gt;&#10;  &lt;/Box&gt;&#10;&#10;  &lt;Box style={{ position: 'absolute', bottom: 28, right: 50 }}&gt;&#10;    &lt;Text style={{ fontSize: 13, color: 'rgba(100,116,139,0.4)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DC2626"/>
                </a:solidFill>
                <a:latin typeface="Microsoft YaHei"/>
                <a:ea typeface="Microsoft YaHei"/>
              </a:rPr>
              <a:t>HARD DEADLINE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23875" y="619125"/>
            <a:ext cx="1114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重庆市政府展会亮相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91100" y="1133475"/>
            <a:ext cx="2209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810250" y="18478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重庆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2952750" y="2400300"/>
            <a:ext cx="6286500" cy="119062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143250" y="25527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C2626"/>
                </a:solidFill>
                <a:latin typeface="Microsoft YaHei"/>
                <a:ea typeface="Microsoft YaHei"/>
              </a:rPr>
              <a:t>三阶段路线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143250" y="284797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314700" y="2800350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两店验证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515350" y="280987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7706"/>
                </a:solidFill>
                <a:latin typeface="Microsoft YaHei"/>
                <a:ea typeface="Microsoft YaHei"/>
              </a:rPr>
              <a:t>🟡 </a:t>
            </a:r>
            <a:r>
              <a:rPr lang="zh-CN" sz="975">
                <a:solidFill>
                  <a:srgbClr val="D97706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143250" y="30861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314700" y="3038475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区域标准化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515350" y="30480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展会后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143250" y="33242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314700" y="3276600"/>
            <a:ext cx="498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34155"/>
                </a:solidFill>
                <a:latin typeface="Microsoft YaHei"/>
                <a:ea typeface="Microsoft YaHei"/>
              </a:rPr>
              <a:t>对外输出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91525" y="3286125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标准化后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214" name="" descr="&lt;Slide&gt;&#10;  &lt;Box style={{ position: 'relative', width: '100%', height: '100%', background: 'linear-gradient(135deg, #FFF7ED 0%, #FFEDD5 30%, #FEE2E2 60%, #FFF7ED 100%)' }}&gt;&#10;    &lt;Box style={{ position: 'absolute', top: -100, right: -100, width: 500, height: 500, borderRadius: '50%', background: 'radial-gradient(circle, rgba(217,119,6,0.08) 0%, transparent 70%)' }} /&gt;&#10;    &lt;Box style={{ position: 'absolute', bottom: -80, left: -80, width: 400, height: 400, borderRadius: '50%', background: 'radial-gradient(circle, rgba(234,88,12,0.06) 0%, transparent 70%)' }} /&gt;&#10;&#10;    &lt;Box style={{ position: 'relative', zIndex: 2, padding: '65px 80px', height: '100%', display: 'flex', flexDirection: 'column', justifyContent: 'center', alignItems: 'center' }}&gt;&#10;      &lt;Text style={{ fontSize: 48, color: '#0F172A', fontWeight: 'bold', lineHeight: 1.2, textAlign: 'center', marginBottom: 4 }}&gt;拿得少&lt;/Text&gt;&#10;      &lt;Text style={{ fontSize: 48, color: '#0F172A', fontWeight: 'bold', lineHeight: 1.2, textAlign: 'center', marginBottom: 16 }}&gt;走得远&lt;/Text&gt;&#10;&#10;      &lt;Box style={{ width: 100, height: 3, background: 'linear-gradient(90deg, #D97706 0%, #EA580C 50%, #DC2626 100%)', borderRadius: 2, marginBottom: 22 }} /&gt;&#10;&#10;      &lt;Text style={{ fontSize: 19, color: '#334155', marginBottom: 5 }}&gt;火瞳 · 冯校长火锅连锁 AI 运营中台&lt;/Text&gt;&#10;      &lt;Text style={{ fontSize: 14, color: '#94A3B8' }}&gt;视觉 + 数据 · 双引擎&lt;/Text&gt;&#10;&#10;      &lt;Box style={{&#10;        display: 'flex', flexDirection: 'row', gap: 28,&#10;        marginTop: 28, padding: '14px 24px',&#10;        background: '#FFFFFF', borderRadius: 10,&#10;        border: '1px solid #E2E8F0', boxShadow: '0 2px 10px rgba(0,0,0,0.05)'&#10;      }}&gt;&#10;        &lt;Box style={{ display: 'flex', flexDirection: 'column', alignItems: 'center' }}&gt;&#10;          &lt;Text style={{ fontSize: 13, color: '#64748B' }}&gt;产品&lt;/Text&gt;&#10;          &lt;Text style={{ fontSize: 15, fontWeight: '600', color: '#0F172A' }}&gt;v5.3&lt;/Text&gt;&#10;        &lt;/Box&gt;&#10;        &lt;Box style={{ display: 'flex', flexDirection: 'column', alignItems: 'center' }}&gt;&#10;          &lt;Text style={{ fontSize: 13, color: '#64748B' }}&gt;架构&lt;/Text&gt;&#10;          &lt;Text style={{ fontSize: 15, fontWeight: '600', color: '#0F172A' }}&gt;v1.1&lt;/Text&gt;&#10;        &lt;/Box&gt;&#10;        &lt;Box style={{ display: 'flex', flexDirection: 'column', alignItems: 'center' }}&gt;&#10;          &lt;Text style={{ fontSize: 13, color: '#64748B' }}&gt;功能&lt;/Text&gt;&#10;          &lt;Text style={{ fontSize: 15, fontWeight: '600', color: '#0F172A' }}&gt;129项&lt;/Text&gt;&#10;        &lt;/Box&gt;&#10;      &lt;/Box&gt;&#10;&#10;      &lt;Text style={{ fontSize: 12, color: '#94A3B8', marginTop: 22 }}&gt;2026年7月&lt;/Text&gt;&#10;    &lt;/Box&gt;&#10;&#10;    &lt;Box style={{ position: 'absolute', bottom: 28, right: 50, zIndex: 2 }}&gt;&#10;      &lt;Text style={{ fontSize: 13, color: 'rgba(100,116,139,0.5)' }}&gt;16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7ED"/>
              </a:gs>
              <a:gs pos="30000">
                <a:srgbClr val="FFEDD5"/>
              </a:gs>
              <a:gs pos="60000">
                <a:srgbClr val="FEE2E2"/>
              </a:gs>
              <a:gs pos="100000">
                <a:srgbClr val="FFF7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382000" y="-952500"/>
            <a:ext cx="4762500" cy="4762500"/>
          </a:xfrm>
          <a:custGeom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-762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EA580C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410200" y="1733550"/>
            <a:ext cx="13716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拿得少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410200" y="2438400"/>
            <a:ext cx="13716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走得远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619750" y="3257550"/>
            <a:ext cx="9525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D97706"/>
              </a:gs>
              <a:gs pos="50000">
                <a:srgbClr val="EA580C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705350" y="34956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火瞳</a:t>
            </a:r>
            <a:r>
              <a:rPr lang="en-US" sz="1425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425">
                <a:solidFill>
                  <a:srgbClr val="33415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495925" y="3762375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124450" y="4191000"/>
            <a:ext cx="195262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7210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53050" y="44767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v5.3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92455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905500" y="44767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v1.1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534150" y="4324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457950" y="4476750"/>
            <a:ext cx="390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129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819775" y="499110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2026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334750" y="6438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2026-07-30T11:04:51Z</dcterms:created>
  <dcterms:modified xsi:type="dcterms:W3CDTF">2026-07-30T11:04:51Z</dcterms:modified>
</cp:coreProperties>
</file>