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theme/theme2.xml" ContentType="application/vnd.openxmlformats-officedocument.them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6" Type="http://schemas.openxmlformats.org/officeDocument/2006/relationships/slide" Target="slides/slide6.xml" /><Relationship Id="rId19" Type="http://schemas.openxmlformats.org/officeDocument/2006/relationships/tableStyles" Target="tableStyles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8" Type="http://schemas.openxmlformats.org/officeDocument/2006/relationships/presProps" Target="presProps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8" Type="http://schemas.openxmlformats.org/officeDocument/2006/relationships/slide" Target="slides/slide8.xml" /><Relationship Id="rId16" Type="http://schemas.openxmlformats.org/officeDocument/2006/relationships/slide" Target="slides/slide16.xml" /><Relationship Id="rId7" Type="http://schemas.openxmlformats.org/officeDocument/2006/relationships/slide" Target="slides/slide7.xml" /><Relationship Id="rId17" Type="http://schemas.openxmlformats.org/officeDocument/2006/relationships/notesMaster" Target="notesMasters/notesMaster1.xml" /><Relationship Id="rId13" Type="http://schemas.openxmlformats.org/officeDocument/2006/relationships/slide" Target="slides/slide13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&gt;&#10;  &lt;Box style={{ position: 'relative', width: '100%', height: '100%' }}&gt;&#10;    &lt;Image src=&quot;resources/images/tech_aura_bg.png&quot; style={{ position: 'absolute', top: 0, left: 0, width: '100%', height: '100%', objectFit: 'cover' }} /&gt;&#10;    &lt;Box style={{ position: 'absolute', top: 0, left: 0, width: '100%', height: '100%', background: 'rgba(255,255,255,0.72)' }} /&gt;&#10;&#10;    &lt;Box style={{ position: 'relative', zIndex: 2, padding: '80px 90px', height: '100%', display: 'flex', flexDirection: 'column', justifyContent: 'center' }}&gt;&#10;      &lt;Text style={{ fontSize: 48, color: '#0F172A', fontWeight: 'bold', lineHeight: 1.15, marginBottom: 8 }}&gt;🔥👁️ 火瞳&lt;/Text&gt;&#10;      &lt;Text style={{ fontSize: 28, color: '#64748B', fontWeight: 'normal', lineHeight: 1.4, marginBottom: 40 }}&gt;全链路产品技术报告&lt;/Text&gt;&#10;&#10;      &lt;Box style={{ width: 80, height: 3, background: 'linear-gradient(90deg, #2563EB 0%, #7C3AED 100%)', borderRadius: 2, marginBottom: 36 }} /&gt;&#10;&#10;      &lt;Box style={{ display: 'flex', flexDirection: 'row', gap: 24, alignItems: 'center' }}&gt;&#10;        &lt;Text style={{ fontSize: 16, color: '#64748B' }}&gt;PRD v5.3i&lt;/Text&gt;&#10;        &lt;Text style={{ fontSize: 16, color: '#94A3B8' }}&gt;·&lt;/Text&gt;&#10;        &lt;Text style={{ fontSize: 16, color: '#64748B' }}&gt;架构 v1.1&lt;/Text&gt;&#10;        &lt;Text style={{ fontSize: 16, color: '#94A3B8' }}&gt;·&lt;/Text&gt;&#10;        &lt;Text style={{ fontSize: 16, color: '#64748B' }}&gt;2026.07&lt;/Text&gt;&#10;      &lt;/Box&gt;&#10;&#10;      &lt;Text style={{ fontSize: 18, color: '#94A3B8', marginTop: 32, lineHeight: 1.5 }}&gt;从市场调研到详细架构 · 六层文档链路全景&lt;/Text&gt;&#10;    &lt;/Box&gt;&#10;&#10;    &lt;Box style={{ position: 'absolute', bottom: 28, right: 50, zIndex: 2 }}&gt;&#10;      &lt;Text style={{ fontSize: 14, color: 'rgba(100,116,139,0.5)' }}&gt;1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57250" y="2066925"/>
            <a:ext cx="10477500" cy="6381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600" b="1">
                <a:solidFill>
                  <a:srgbClr val="0F172A"/>
                </a:solidFill>
                <a:latin typeface="Microsoft YaHei"/>
                <a:ea typeface="Microsoft YaHei"/>
              </a:rPr>
              <a:t>🔥👁️ </a:t>
            </a:r>
            <a:r>
              <a:rPr lang="zh-CN" sz="3600" b="1">
                <a:solidFill>
                  <a:srgbClr val="0F172A"/>
                </a:solidFill>
                <a:latin typeface="Microsoft YaHei"/>
                <a:ea typeface="Microsoft YaHei"/>
              </a:rPr>
              <a:t>火瞳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57250" y="2781300"/>
            <a:ext cx="10477500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100">
                <a:solidFill>
                  <a:srgbClr val="64748B"/>
                </a:solidFill>
                <a:latin typeface="Microsoft YaHei"/>
                <a:ea typeface="Microsoft YaHei"/>
              </a:rPr>
              <a:t>全链路产品技术报告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857250" y="3619500"/>
            <a:ext cx="7620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57250" y="3990975"/>
            <a:ext cx="695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PRD v5.3i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781175" y="3990975"/>
            <a:ext cx="57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2066925" y="3990975"/>
            <a:ext cx="638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架构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v1.1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933700" y="3990975"/>
            <a:ext cx="57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94A3B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219450" y="3990975"/>
            <a:ext cx="552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2026.07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57250" y="4486275"/>
            <a:ext cx="10477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从市场调研到详细架构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六层文档链路全景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1 / 16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" descr="&lt;Slide&gt;&#10;  &lt;Box style={{ position: 'relative', width: '100%', height: '100%' }}&gt;&#10;    &lt;Image src=&quot;resources/images/market_opportunity.png&quot; style={{ position: 'absolute', top: 0, left: 0, width: '100%', height: '100%', objectFit: 'cover' }} /&gt;&#10;    &lt;Box style={{ position: 'absolute', top: 0, left: 0, width: '100%', height: '100%', background: 'rgba(255,255,255,0.78)' }} /&gt;&#10;&#10;    &lt;Box style={{ position: 'relative', zIndex: 2, padding: '80px 90px', height: '100%', display: 'flex', flexDirection: 'column', justifyContent: 'center', alignItems: 'flex-start' }}&gt;&#10;      &lt;Text style={{ fontSize: 15, color: '#D97706', fontWeight: '600', letterSpacing: 4, marginBottom: 20 }}&gt;MARKET OPPORTUNITY&lt;/Text&gt;&#10;      &lt;Text style={{ fontSize: 56, color: '#0F172A', fontWeight: 'bold', lineHeight: 1.15, marginBottom: 16 }}&gt;万亿市场&lt;/Text&gt;&#10;      &lt;Text style={{ fontSize: 56, color: '#0F172A', fontWeight: 'bold', lineHeight: 1.15 }}&gt;等待 AI 破局&lt;/Text&gt;&#10;      &lt;Text style={{ fontSize: 20, color: '#64748B', marginTop: 24, lineHeight: 1.5 }}&gt;44.8 万家门店 · 连锁化率仅 25% · 效率为王&lt;/Text&gt;&#10;    &lt;/Box&gt;&#10;&#10;    &lt;Box style={{ position: 'absolute', bottom: 28, right: 50, zIndex: 2 }}&gt;&#10;      &lt;Text style={{ fontSize: 14, color: 'rgba(100,116,139,0.5)' }}&gt;2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57250" y="2143125"/>
            <a:ext cx="2371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D97706"/>
                </a:solidFill>
                <a:latin typeface="Microsoft YaHei"/>
                <a:ea typeface="Microsoft YaHei"/>
              </a:rPr>
              <a:t>MARKET OPPORTUNITY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57250" y="2505075"/>
            <a:ext cx="21336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万亿市场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57250" y="3400425"/>
            <a:ext cx="2971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等待</a:t>
            </a:r>
            <a:r>
              <a:rPr lang="en-US" sz="4200" b="1">
                <a:solidFill>
                  <a:srgbClr val="0F172A"/>
                </a:solidFill>
                <a:latin typeface="Microsoft YaHei"/>
                <a:ea typeface="Microsoft YaHei"/>
              </a:rPr>
              <a:t> AI </a:t>
            </a: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破局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57250" y="4371975"/>
            <a:ext cx="36766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>44.8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万家门店</a:t>
            </a: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连锁化率仅</a:t>
            </a: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> 25% ·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效率为王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2 / 16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41" name="" descr="&lt;Slide style={{ background: '#FFFFFF', padding: '50px 70px 40px' }}&gt;&#10;  &lt;Text style={{ fontSize: 15, color: '#64748B', fontWeight: '500', marginBottom: 8 }}&gt;火锅赛道 · 天量空间&lt;/Text&gt;&#10;  &lt;Text style={{ fontSize: 34, color: '#0F172A', fontWeight: 'bold', marginBottom: 36 }}&gt;泛火锅市场规模 (2025)&lt;/Text&gt;&#10;&#10;  &lt;Box style={{ display: 'flex', flexDirection: 'column', alignItems: 'center', marginBottom: 32 }}&gt;&#10;    &lt;Text style={{&#10;      fontSize: 88,&#10;      fontWeight: 'bold',&#10;      backgroundImage: 'linear-gradient(135deg, #D97706 0%, #EA580C 100%)',&#10;      backgroundClip: 'text',&#10;      color: 'transparent',&#10;      lineHeight: 1&#10;    }}&gt;¥1.04&lt;span style={{ fontSize: 48 }}&gt;万亿&lt;/span&gt;&lt;/Text&gt;&#10;    &lt;Text style={{ fontSize: 18, color: '#64748B', marginTop: 8 }}&gt;中国餐饮最大单品赛道&lt;/Text&gt;&#10;  &lt;/Box&gt;&#10;&#10;  &lt;Box style={{ display: 'flex', flexDirection: 'row', gap: 16 }}&gt;&#10;    &lt;Box style={{ flex: 1, background: '#F8FAFC', borderRadius: 12, padding: '20px 24px', border: '1px solid #E2E8F0', boxShadow: '0 2px 8px rgba(0,0,0,0.04)' }}&gt;&#10;      &lt;Text style={{ fontSize: 36, fontWeight: 'bold', color: '#0F172A' }}&gt;44.8&lt;span style={{ fontSize: 18, color: '#64748B' }}&gt;万家&lt;/span&gt;&lt;/Text&gt;&#10;      &lt;Text style={{ fontSize: 15, color: '#64748B', marginTop: 4 }}&gt;火锅门店数 · 同比 -15.4%&lt;/Text&gt;&#10;    &lt;/Box&gt;&#10;    &lt;Box style={{ flex: 1, background: '#F8FAFC', borderRadius: 12, padding: '20px 24px', border: '1px solid #E2E8F0', boxShadow: '0 2px 8px rgba(0,0,0,0.04)' }}&gt;&#10;      &lt;Text style={{ fontSize: 36, fontWeight: 'bold', color: '#2563EB' }}&gt;25&lt;span style={{ fontSize: 18, color: '#64748B' }}&gt;%&lt;/span&gt;&lt;/Text&gt;&#10;      &lt;Text style={{ fontSize: 15, color: '#64748B', marginTop: 4 }}&gt;连锁化率 → 35%+ (2028)&lt;/Text&gt;&#10;    &lt;/Box&gt;&#10;  &lt;/Box&gt;&#10;&#10;  &lt;Box style={{ display: 'flex', flexDirection: 'row', gap: 16, marginTop: 16 }}&gt;&#10;    &lt;Box style={{ flex: 1, background: '#FEF2F2', borderRadius: 12, padding: '20px 24px', border: '1px solid #FECACA' }}&gt;&#10;      &lt;Text style={{ fontSize: 36, fontWeight: 'bold', color: '#DC2626' }}&gt;6.2&lt;span style={{ fontSize: 18, color: '#64748B' }}&gt;%&lt;/span&gt;&lt;/Text&gt;&#10;      &lt;Text style={{ fontSize: 15, color: '#64748B', marginTop: 4 }}&gt;行业平均净利率&lt;/Text&gt;&#10;    &lt;/Box&gt;&#10;    &lt;Box style={{ flex: 1, background: '#ECFDF5', borderRadius: 12, padding: '20px 24px', border: '1px solid #A7F3D0' }}&gt;&#10;      &lt;Text style={{ fontSize: 36, fontWeight: 'bold', color: '#059669' }}&gt;18&lt;span style={{ fontSize: 18, color: '#64748B' }}&gt;%&lt;/span&gt;&lt;/Text&gt;&#10;      &lt;Text style={{ fontSize: 15, color: '#64748B', marginTop: 4 }}&gt;头部品牌净利率&lt;/Text&gt;&#10;    &lt;/Box&gt;&#10;  &lt;/Box&gt;&#10;&#10;  &lt;Box style={{ position: 'absolute', bottom: 28, right: 50 }}&gt;&#10;    &lt;Text style={{ fontSize: 14, color: 'rgba(100,116,139,0.4)' }}&gt;3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66750" y="476250"/>
            <a:ext cx="1085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火锅赛道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天量空间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66750" y="72390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Microsoft YaHei"/>
                <a:ea typeface="Microsoft YaHei"/>
              </a:rPr>
              <a:t>泛火锅市场规模</a:t>
            </a: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 (2025)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591050" y="1457325"/>
            <a:ext cx="301942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gradFill>
                  <a:gsLst>
                    <a:gs pos="0">
                      <a:srgbClr val="D97706"/>
                    </a:gs>
                    <a:gs pos="100000">
                      <a:srgbClr val="EA580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¥1.04</a:t>
            </a:r>
            <a:r>
              <a:rPr lang="zh-CN" sz="3600" b="1">
                <a:gradFill>
                  <a:gsLst>
                    <a:gs pos="0">
                      <a:srgbClr val="D97706"/>
                    </a:gs>
                    <a:gs pos="100000">
                      <a:srgbClr val="EA580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万亿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238750" y="254317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中国餐饮最大单品赛道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66750" y="3057525"/>
            <a:ext cx="5353050" cy="1009650"/>
          </a:xfrm>
          <a:prstGeom prst="roundRect">
            <a:avLst>
              <a:gd name="adj" fmla="val 113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95350" y="3248025"/>
            <a:ext cx="48958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44.8</a:t>
            </a: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万家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95350" y="370522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火锅门店数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同比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-15.4%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172200" y="3057525"/>
            <a:ext cx="5353050" cy="1009650"/>
          </a:xfrm>
          <a:prstGeom prst="roundRect">
            <a:avLst>
              <a:gd name="adj" fmla="val 113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400800" y="3248025"/>
            <a:ext cx="48958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2563EB"/>
                </a:solidFill>
                <a:latin typeface="Microsoft YaHei"/>
                <a:ea typeface="Microsoft YaHei"/>
              </a:rPr>
              <a:t>25</a:t>
            </a: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400800" y="370522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连锁化率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→ 35%+ (2028)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66750" y="4219575"/>
            <a:ext cx="5353050" cy="1009650"/>
          </a:xfrm>
          <a:prstGeom prst="roundRect">
            <a:avLst>
              <a:gd name="adj" fmla="val 113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95350" y="4410075"/>
            <a:ext cx="48958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DC2626"/>
                </a:solidFill>
                <a:latin typeface="Microsoft YaHei"/>
                <a:ea typeface="Microsoft YaHei"/>
              </a:rPr>
              <a:t>6.2</a:t>
            </a: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95350" y="486727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行业平均净利率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172200" y="4219575"/>
            <a:ext cx="5353050" cy="1009650"/>
          </a:xfrm>
          <a:prstGeom prst="roundRect">
            <a:avLst>
              <a:gd name="adj" fmla="val 1132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400800" y="4410075"/>
            <a:ext cx="48958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59669"/>
                </a:solidFill>
                <a:latin typeface="Microsoft YaHei"/>
                <a:ea typeface="Microsoft YaHei"/>
              </a:rPr>
              <a:t>18</a:t>
            </a: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400800" y="486727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头部品牌净利率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3 / 16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260" name="" descr="&lt;Slide style={{ background: '#FFFFFF', padding: '50px 70px 40px', display: 'flex', flexDirection: 'column', alignItems: 'center', justifyContent: 'center' }}&gt;&#10;  &lt;Text style={{ fontSize: 72, color: 'rgba(203,213,225,0.6)', fontWeight: 'bold', lineHeight: 1, marginBottom: -10 }}&gt;&quot;&lt;/Text&gt;&#10;&#10;  &lt;Text style={{&#10;    fontSize: 32,&#10;    color: '#0F172A',&#10;    fontWeight: '600',&#10;    lineHeight: 1.6,&#10;    textAlign: 'center',&#10;    marginBottom: 8&#10;  }}&gt;摄像头替你看后厨&lt;/Text&gt;&#10;  &lt;Text style={{&#10;    fontSize: 32,&#10;    color: '#0F172A',&#10;    fontWeight: '600',&#10;    lineHeight: 1.6,&#10;    textAlign: 'center',&#10;    marginBottom: 8&#10;  }}&gt;AI 替你算订货&lt;/Text&gt;&#10;  &lt;Text style={{&#10;    fontSize: 32,&#10;    color: '#0F172A',&#10;    fontWeight: '600',&#10;    lineHeight: 1.6,&#10;    textAlign: 'center',&#10;    marginBottom: 32&#10;  }}&gt;手机上管所有店&lt;/Text&gt;&#10;&#10;  &lt;Box style={{ width: 100, height: 3, background: 'linear-gradient(90deg, #2563EB 0%, #7C3AED 50%, #06B6D4 100%)', borderRadius: 2, marginBottom: 28 }} /&gt;&#10;&#10;  &lt;Text style={{ fontSize: 20, color: '#64748B', fontWeight: 'normal' }}&gt;火瞳 —— 冯校长火锅连锁 AI 运营中台&lt;/Text&gt;&#10;  &lt;Text style={{ fontSize: 16, color: '#94A3B8', marginTop: 8 }}&gt;视觉 + 数据 · 双引擎&lt;/Text&gt;&#10;&#10;  &lt;Box style={{ position: 'absolute', bottom: 28, right: 50 }}&gt;&#10;    &lt;Text style={{ fontSize: 14, color: 'rgba(100,116,139,0.4)' }}&gt;4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934075" y="1600200"/>
            <a:ext cx="3333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CBD5E1">
                    <a:alpha val="60000"/>
                  </a:srgbClr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876800" y="2333625"/>
            <a:ext cx="2438400" cy="5905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摄像头替你看后厨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143500" y="3000375"/>
            <a:ext cx="1914525" cy="5905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>AI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替你算订货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029200" y="3667125"/>
            <a:ext cx="2133600" cy="5905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手机上管所有店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5619750" y="4562475"/>
            <a:ext cx="9525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467225" y="4857750"/>
            <a:ext cx="3257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火瞳</a:t>
            </a: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> ——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冯校长火锅连锁</a:t>
            </a: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运营中台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410200" y="5162550"/>
            <a:ext cx="1381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视觉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数据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双引擎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4 / 16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70" name="" descr="&lt;Slide style={{ background: '#FFFFFF', padding: '45px 60px 35px' }}&gt;&#10;  &lt;Text style={{ fontSize: 15, color: '#64748B', fontWeight: '500', marginBottom: 6 }}&gt;PRODUCT CAPABILITY&lt;/Text&gt;&#10;  &lt;Text style={{ fontSize: 32, color: '#0F172A', fontWeight: 'bold', marginBottom: 28 }}&gt;五层能力 · 从看见到管住&lt;/Text&gt;&#10;&#10;  &lt;Box style={{ display: 'flex', flexDirection: 'row', gap: 28, height: 480 }}&gt;&#10;    &lt;Box style={{ width: '55%', position: 'relative', borderRadius: 16, overflow: 'hidden', background: 'linear-gradient(180deg, rgba(37,99,235,0.06) 0%, rgba(124,58,237,0.04) 50%, rgba(6,182,212,0.03) 100%)', border: '1px solid #E2E8F0', display: 'flex', flexDirection: 'column', justifyContent: 'center', alignItems: 'center', padding: 28 }}&gt;&#10;      &lt;Box style={{ display: 'flex', flexDirection: 'column', gap: 14, width: '100%' }}&gt;&#10;        {[&#10;          { num: '①', label: '看得见的损失', desc: '视觉AI废料检测', color: '#2563EB' },&#10;          { num: '②', label: '算得清的订货', desc: 'AI销量预测+库存优化', color: '#7C3AED' },&#10;          { num: '③', label: '管得住的连锁', desc: '多店总览+SOP合规', color: '#0891B2' },&#10;          { num: '④', label: '管得了的冻品', desc: '温控追溯+规格锁定', color: '#D97706' },&#10;          { num: '⑤', label: '配得上的助理', desc: '每岗位一个AI入口', color: '#059669' }&#10;        ].map((item, i) =&gt; (&#10;          &lt;Box key={i} style={{&#10;            display: 'flex', flexDirection: 'row', alignItems: 'center', gap: 14,&#10;            background: '#FFFFFF', borderRadius: 10, padding: '14px 18px',&#10;            borderLeft: `4px solid ${item.color}`, boxShadow: '0 1px 4px rgba(0,0,0,0.04)'&#10;          }}&gt;&#10;            &lt;Text style={{ fontSize: 22, fontWeight: 'bold', color: item.color }}&gt;{item.num}&lt;/Text&gt;&#10;            &lt;Box&gt;&#10;              &lt;Text style={{ fontSize: 17, fontWeight: '600', color: '#0F172A' }}&gt;{item.label}&lt;/Text&gt;&#10;              &lt;Text style={{ fontSize: 13, color: '#64748B' }}&gt;{item.desc}&lt;/Text&gt;&#10;            &lt;/Box&gt;&#10;          &lt;/Box&gt;&#10;        ))}&#10;      &lt;/Box&gt;&#10;    &lt;/Box&gt;&#10;&#10;    &lt;Box style={{ flex: 1, display: 'flex', flexDirection: 'column', gap: 12 }}&gt;&#10;      &lt;Box style={{ background: '#F8FAFC', borderRadius: 10, padding: 18, border: '1px solid #E2E8F0', boxShadow: '0 1px 6px rgba(0,0,0,0.03)', flex: 1 }}&gt;&#10;        &lt;Text style={{ fontSize: 14, color: '#2563EB', fontWeight: '600', marginBottom: 8 }}&gt;视觉引擎&lt;/Text&gt;&#10;        &lt;Text style={{ fontSize: 15, color: '#475569', lineHeight: 1.55 }}&gt;7段推理管线覆盖后厨全工位，YOLO+CLIP+VLM多模型协同&lt;/Text&gt;&#10;      &lt;/Box&gt;&#10;&#10;      &lt;Box style={{ background: '#F8FAFC', borderRadius: 10, padding: 18, border: '1px solid #E2E8F0', boxShadow: '0 1px 6px rgba(0,0,0,0.03)', flex: 1 }}&gt;&#10;        &lt;Text style={{ fontSize: 14, color: '#7C3AED', fontWeight: '600', marginBottom: 8 }}&gt;数据引擎&lt;/Text&gt;&#10;        &lt;Text style={{ fontSize: 15, color: '#475569', lineHeight: 1.55 }}&gt;N01-N06六大能力，销量预测/库存优化/损耗分析&lt;/Text&gt;&#10;      &lt;/Box&gt;&#10;&#10;      &lt;Box style={{ background: '#F8FAFC', borderRadius: 10, padding: 18, border: '1px solid #E2E8F0', boxShadow: '0 1px 6px rgba(0,0,0,0.03)', flex: 1 }}&gt;&#10;        &lt;Text style={{ fontSize: 14, color: '#0891B2', fontWeight: '600', marginBottom: 8 }}&gt;智能体&lt;/Text&gt;&#10;        &lt;Text style={{ fontSize: 15, color: '#475569', lineHeight: 1.55 }}&gt;店长/后厨/采购/供应商四角色Agent入口&lt;/Text&gt;&#10;      &lt;/Box&gt;&#10;&#10;      &lt;Box style={{ background: '#F8FAFC', borderRadius: 10, padding: 18, border: '1px solid #E2E8F0', boxShadow: '0 1px 6px rgba(0,0,0,0.03)', flex: 1 }}&gt;&#10;        &lt;Text style={{ fontSize: 14, color: '#D97706', fontWeight: '600', marginBottom: 8 }}&gt;供应链&lt;/Text&gt;&#10;        &lt;Text style={{ fontSize: 15, color: '#475569', lineHeight: 1.55 }}&gt;冻品品牌规格锁定、温控追溯、退换货流程&lt;/Text&gt;&#10;      &lt;/Box&gt;&#10;    &lt;/Box&gt;&#10;  &lt;/Box&gt;&#10;&#10;  &lt;Box style={{ position: 'absolute', bottom: 28, right: 50 }}&gt;&#10;    &lt;Text style={{ fontSize: 14, color: 'rgba(100,116,139,0.4)' }}&gt;5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PRODUCT CAPABILITY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11049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五层能力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从看见到管住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915150" y="1295400"/>
            <a:ext cx="4705350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7150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086600" y="1466850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视觉引擎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086600" y="1704975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7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段推理管线覆盖后厨全工位，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YOLO+CLIP+VLM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多模型协同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915150" y="2466975"/>
            <a:ext cx="4705350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7150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086600" y="2638425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7C3AED"/>
                </a:solidFill>
                <a:latin typeface="Microsoft YaHei"/>
                <a:ea typeface="Microsoft YaHei"/>
              </a:rPr>
              <a:t>数据引擎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086600" y="2876550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N01-N06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六大能力，销量预测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库存优化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损耗分析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915150" y="3638550"/>
            <a:ext cx="4705350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7150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086600" y="3810000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891B2"/>
                </a:solidFill>
                <a:latin typeface="Microsoft YaHei"/>
                <a:ea typeface="Microsoft YaHei"/>
              </a:rPr>
              <a:t>智能体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086600" y="4048125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店长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后厨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采购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供应商四角色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Agent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915150" y="4810125"/>
            <a:ext cx="4705350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7150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086600" y="4981575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D97706"/>
                </a:solidFill>
                <a:latin typeface="Microsoft YaHei"/>
                <a:ea typeface="Microsoft YaHei"/>
              </a:rPr>
              <a:t>供应链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086600" y="5219700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冻品品牌规格锁定、温控追溯、退换货流程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571500" y="1295400"/>
            <a:ext cx="6076950" cy="4572000"/>
          </a:xfrm>
          <a:prstGeom prst="roundRect">
            <a:avLst>
              <a:gd name="adj" fmla="val 3333"/>
            </a:avLst>
          </a:prstGeom>
          <a:gradFill>
            <a:gsLst>
              <a:gs pos="0">
                <a:srgbClr val="2563EB">
                  <a:alpha val="6000"/>
                </a:srgbClr>
              </a:gs>
              <a:gs pos="50000">
                <a:srgbClr val="7C3AED">
                  <a:alpha val="4000"/>
                </a:srgbClr>
              </a:gs>
              <a:gs pos="100000">
                <a:srgbClr val="06B6D4">
                  <a:alpha val="3000"/>
                </a:srgbClr>
              </a:gs>
            </a:gsLst>
            <a:lin ang="5400000" scaled="1"/>
          </a:gra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876300" y="1771650"/>
            <a:ext cx="5543550" cy="61912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381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876300" y="1771650"/>
            <a:ext cx="5543550" cy="619125"/>
          </a:xfrm>
          <a:custGeom>
            <a:pathLst>
              <a:path w="582" h="6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9"/>
                </a:lnTo>
                <a:cubicBezTo>
                  <a:pt x="4" y="62"/>
                  <a:pt x="6" y="64"/>
                  <a:pt x="9" y="65"/>
                </a:cubicBezTo>
                <a:cubicBezTo>
                  <a:pt x="4" y="64"/>
                  <a:pt x="0" y="60"/>
                  <a:pt x="0" y="5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047750" y="19526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390650" y="19050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看得见的损失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390650" y="2105025"/>
            <a:ext cx="971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视觉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废料检测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876300" y="2524125"/>
            <a:ext cx="5543550" cy="61912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381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876300" y="2524125"/>
            <a:ext cx="5543550" cy="619125"/>
          </a:xfrm>
          <a:custGeom>
            <a:pathLst>
              <a:path w="582" h="6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9"/>
                </a:lnTo>
                <a:cubicBezTo>
                  <a:pt x="4" y="62"/>
                  <a:pt x="6" y="64"/>
                  <a:pt x="9" y="65"/>
                </a:cubicBezTo>
                <a:cubicBezTo>
                  <a:pt x="4" y="64"/>
                  <a:pt x="0" y="60"/>
                  <a:pt x="0" y="5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047750" y="27051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7C3AED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390650" y="2657475"/>
            <a:ext cx="118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算得清的订货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390650" y="2857500"/>
            <a:ext cx="118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销量预测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+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库存优化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76300" y="3276600"/>
            <a:ext cx="5543550" cy="61912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381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876300" y="3276600"/>
            <a:ext cx="5543550" cy="619125"/>
          </a:xfrm>
          <a:custGeom>
            <a:pathLst>
              <a:path w="582" h="6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9"/>
                </a:lnTo>
                <a:cubicBezTo>
                  <a:pt x="4" y="62"/>
                  <a:pt x="6" y="64"/>
                  <a:pt x="9" y="65"/>
                </a:cubicBezTo>
                <a:cubicBezTo>
                  <a:pt x="4" y="64"/>
                  <a:pt x="0" y="60"/>
                  <a:pt x="0" y="5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047750" y="34575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891B2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390650" y="3409950"/>
            <a:ext cx="1085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管得住的连锁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390650" y="3609975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多店总览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+SOP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合规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876300" y="4029075"/>
            <a:ext cx="5543550" cy="61912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381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876300" y="4029075"/>
            <a:ext cx="5543550" cy="619125"/>
          </a:xfrm>
          <a:custGeom>
            <a:pathLst>
              <a:path w="582" h="6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9"/>
                </a:lnTo>
                <a:cubicBezTo>
                  <a:pt x="4" y="62"/>
                  <a:pt x="6" y="64"/>
                  <a:pt x="9" y="65"/>
                </a:cubicBezTo>
                <a:cubicBezTo>
                  <a:pt x="4" y="64"/>
                  <a:pt x="0" y="60"/>
                  <a:pt x="0" y="5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047750" y="42100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D97706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390650" y="4162425"/>
            <a:ext cx="1066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管得了的冻品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390650" y="4362450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温控追溯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+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规格锁定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876300" y="4781550"/>
            <a:ext cx="5543550" cy="61912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381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876300" y="4781550"/>
            <a:ext cx="5543550" cy="619125"/>
          </a:xfrm>
          <a:custGeom>
            <a:pathLst>
              <a:path w="582" h="6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9"/>
                </a:lnTo>
                <a:cubicBezTo>
                  <a:pt x="4" y="62"/>
                  <a:pt x="6" y="64"/>
                  <a:pt x="9" y="65"/>
                </a:cubicBezTo>
                <a:cubicBezTo>
                  <a:pt x="4" y="64"/>
                  <a:pt x="0" y="60"/>
                  <a:pt x="0" y="5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59669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047750" y="49625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059669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390650" y="4914900"/>
            <a:ext cx="990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Microsoft YaHei"/>
                <a:ea typeface="Microsoft YaHei"/>
              </a:rPr>
              <a:t>配得上的助理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390650" y="51149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每岗位一个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5 / 16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313" name="" descr="&lt;Slide style={{ background: '#FFFFFF', padding: '45px 60px 35px' }}&gt;&#10;  &lt;Text style={{ fontSize: 15, color: '#64748B', fontWeight: '500', marginBottom: 6 }}&gt;PRD v5.3i · 2839行&lt;/Text&gt;&#10;  &lt;Box style={{ display: 'flex', flexDirection: 'row', alignItems: 'baseline', gap: 16, marginBottom: 24 }}&gt;&#10;    &lt;Text style={{&#10;      fontSize: 80,&#10;      fontWeight: 'bold',&#10;      backgroundImage: 'linear-gradient(135deg, #2563EB 0%, #7C3AED 100%)',&#10;      backgroundClip: 'text',&#10;      color: 'transparent',&#10;      lineHeight: 1&#10;    }}&gt;129&lt;/Text&gt;&#10;    &lt;Text style={{ fontSize: 24, color: '#64748B' }}&gt;项 EARS 功能需求&lt;/Text&gt;&#10;  &lt;/Box&gt;&#10;&#10;  &lt;Box style={{ display: 'flex', flexDirection: 'row', gap: 14, marginBottom: 20 }}&gt;&#10;    &lt;Box style={{ flex: 1, background: '#FEF2F2', borderRadius: 10, padding: '16px 20px', border: '1px solid #FECACA', textAlign: 'center' }}&gt;&#10;      &lt;Text style={{ fontSize: 32, fontWeight: 'bold', color: '#DC2626' }}&gt;27&lt;/Text&gt;&#10;      &lt;Text style={{ fontSize: 13, color: '#64748B', marginTop: 2 }}&gt;P0 核心&lt;/Text&gt;&#10;    &lt;/Box&gt;&#10;    &lt;Box style={{ flex: 1, background: '#FFFBEB', borderRadius: 10, padding: '16px 20px', border: '1px solid #FDE68A', textAlign: 'center' }}&gt;&#10;      &lt;Text style={{ fontSize: 32, fontWeight: 'bold', color: '#D97706' }}&gt;42&lt;/Text&gt;&#10;      &lt;Text style={{ fontSize: 13, color: '#64748B', marginTop: 2 }}&gt;P1 重要&lt;/Text&gt;&#10;    &lt;/Box&gt;&#10;    &lt;Box style={{ flex: 1, background: '#EFF6FF', borderRadius: 10, padding: '16px 20px', border: '1px solid #BFDBFE', textAlign: 'center' }}&gt;&#10;      &lt;Text style={{ fontSize: 32, fontWeight: 'bold', color: '#2563EB' }}&gt;56&lt;/Text&gt;&#10;      &lt;Text style={{ fontSize: 13, color: '#64748B', marginTop: 2 }}&gt;P2 增强&lt;/Text&gt;&#10;    &lt;/Box&gt;&#10;    &lt;Box style={{ flex: 1, background: '#F8FAFC', borderRadius: 10, padding: '16px 20px', border: '1px solid #E2E8F0', textAlign: 'center' }}&gt;&#10;      &lt;Text style={{ fontSize: 32, fontWeight: 'bold', color: '#64748B' }}&gt;4&lt;/Text&gt;&#10;      &lt;Text style={{ fontSize: 13, color: '#94A3B8', marginTop: 2 }}&gt;Phase2&lt;/Text&gt;&#10;    &lt;/Box&gt;&#10;  &lt;/Box&gt;&#10;&#10;  &lt;Text style={{ fontSize: 14, color: '#64748B', marginBottom: 12 }}&gt;九大功能系列&lt;/Text&gt;&#10;  &lt;Box style={{ display: 'flex', flexDirection: 'row', flexWrap: 'wrap', gap: 8 }}&gt;&#10;    {[&#10;      { label: 'K 视觉前厅', count: 70, color: '#2563EB' },&#10;      { label: 'N 数据引擎', count: 27, color: '#7C3AED' },&#10;      { label: 'H 连锁管控', count: 14, color: '#0891B2' },&#10;      { label: 'WH 仓库IoT', count: 6, color: '#D97706' },&#10;      { label: 'A 岗位助理', count: 5, color: '#059669' },&#10;      { label: 'FH 会员营销', count: 4, color: '#DC2626' },&#10;      { label: 'SC SOP合规', count: 3, color: '#6366F1' },&#10;      { label: 'KT 知识库', count: 2, color: '#0D9488' },&#10;      { label: 'S 供应链', count: 4, color: '#EA580C' }&#10;    ].map((tag, i) =&gt; (&#10;      &lt;Box key={i} style={{&#10;        background: `${tag.color}08`,&#10;        border: `1px solid ${tag.color}25`,&#10;        borderRadius: 20,&#10;        padding: '6px 14px',&#10;        display: 'flex', flexDirection: 'row', alignItems: 'center', gap: 6&#10;      }}&gt;&#10;        &lt;Text style={{ fontSize: 13, fontWeight: '600', color: tag.color }}&gt;{tag.label}&lt;/Text&gt;&#10;        &lt;Text style={{ fontSize: 12, color: '#64748B' }}&gt;{tag.count}&lt;/Text&gt;&#10;      &lt;/Box&gt;&#10;    ))}&#10;  &lt;/Box&gt;&#10;&#10;  &lt;Box style={{ position: 'absolute', bottom: 28, right: 50 }}&gt;&#10;    &lt;Text style={{ fontSize: 14, color: 'rgba(100,116,139,0.4)' }}&gt;6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PRD v5.3i · 2839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行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571500" y="657225"/>
            <a:ext cx="127635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gradFill>
                  <a:gsLst>
                    <a:gs pos="0">
                      <a:srgbClr val="2563EB"/>
                    </a:gs>
                    <a:gs pos="100000">
                      <a:srgbClr val="7C3AED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129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2000250" y="657225"/>
            <a:ext cx="1895475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项</a:t>
            </a:r>
            <a:r>
              <a:rPr lang="en-US" sz="1800">
                <a:solidFill>
                  <a:srgbClr val="64748B"/>
                </a:solidFill>
                <a:latin typeface="Microsoft YaHei"/>
                <a:ea typeface="Microsoft YaHei"/>
              </a:rPr>
              <a:t> EARS </a:t>
            </a:r>
            <a:r>
              <a:rPr lang="zh-CN" sz="1800">
                <a:solidFill>
                  <a:srgbClr val="64748B"/>
                </a:solidFill>
                <a:latin typeface="Microsoft YaHei"/>
                <a:ea typeface="Microsoft YaHei"/>
              </a:rPr>
              <a:t>功能需求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571500" y="1800225"/>
            <a:ext cx="2667000" cy="847725"/>
          </a:xfrm>
          <a:prstGeom prst="roundRect">
            <a:avLst>
              <a:gd name="adj" fmla="val 11236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62000" y="1952625"/>
            <a:ext cx="2286000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DC2626"/>
                </a:solidFill>
                <a:latin typeface="Microsoft YaHei"/>
                <a:ea typeface="Microsoft YaHei"/>
              </a:rPr>
              <a:t>27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62000" y="2343150"/>
            <a:ext cx="2286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P0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核心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3371850" y="1800225"/>
            <a:ext cx="2657475" cy="847725"/>
          </a:xfrm>
          <a:prstGeom prst="roundRect">
            <a:avLst>
              <a:gd name="adj" fmla="val 1123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3562350" y="1952625"/>
            <a:ext cx="2276475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D97706"/>
                </a:solidFill>
                <a:latin typeface="Microsoft YaHei"/>
                <a:ea typeface="Microsoft YaHei"/>
              </a:rPr>
              <a:t>42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562350" y="2343150"/>
            <a:ext cx="22764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P1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重要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162675" y="1800225"/>
            <a:ext cx="2667000" cy="847725"/>
          </a:xfrm>
          <a:prstGeom prst="roundRect">
            <a:avLst>
              <a:gd name="adj" fmla="val 112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353175" y="1952625"/>
            <a:ext cx="2286000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Microsoft YaHei"/>
                <a:ea typeface="Microsoft YaHei"/>
              </a:rPr>
              <a:t>56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353175" y="2343150"/>
            <a:ext cx="2286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P2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增强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8963025" y="1800225"/>
            <a:ext cx="2657475" cy="847725"/>
          </a:xfrm>
          <a:prstGeom prst="roundRect">
            <a:avLst>
              <a:gd name="adj" fmla="val 112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9153525" y="1952625"/>
            <a:ext cx="2276475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6474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9153525" y="2343150"/>
            <a:ext cx="22764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Phase2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71500" y="283845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九大功能系列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71500" y="3114675"/>
            <a:ext cx="1085850" cy="266700"/>
          </a:xfrm>
          <a:prstGeom prst="roundRect">
            <a:avLst>
              <a:gd name="adj" fmla="val 71429"/>
            </a:avLst>
          </a:prstGeom>
          <a:solidFill>
            <a:srgbClr val="2563EB">
              <a:alpha val="3137"/>
            </a:srgbClr>
          </a:solidFill>
          <a:ln w="12700">
            <a:solidFill>
              <a:srgbClr val="2563EB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04850" y="3171825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K </a:t>
            </a: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视觉前厅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390650" y="318135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70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1733550" y="3114675"/>
            <a:ext cx="1085850" cy="266700"/>
          </a:xfrm>
          <a:prstGeom prst="roundRect">
            <a:avLst>
              <a:gd name="adj" fmla="val 71429"/>
            </a:avLst>
          </a:prstGeom>
          <a:solidFill>
            <a:srgbClr val="7C3AED">
              <a:alpha val="3137"/>
            </a:srgbClr>
          </a:solidFill>
          <a:ln w="12700">
            <a:solidFill>
              <a:srgbClr val="7C3AED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866900" y="3171825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7C3AED"/>
                </a:solidFill>
                <a:latin typeface="Microsoft YaHei"/>
                <a:ea typeface="Microsoft YaHei"/>
              </a:rPr>
              <a:t>N </a:t>
            </a:r>
            <a:r>
              <a:rPr lang="zh-CN" sz="975" b="1">
                <a:solidFill>
                  <a:srgbClr val="7C3AED"/>
                </a:solidFill>
                <a:latin typeface="Microsoft YaHei"/>
                <a:ea typeface="Microsoft YaHei"/>
              </a:rPr>
              <a:t>数据引擎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2552700" y="318135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27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2895600" y="3114675"/>
            <a:ext cx="1085850" cy="266700"/>
          </a:xfrm>
          <a:prstGeom prst="roundRect">
            <a:avLst>
              <a:gd name="adj" fmla="val 71429"/>
            </a:avLst>
          </a:prstGeom>
          <a:solidFill>
            <a:srgbClr val="0891B2">
              <a:alpha val="3137"/>
            </a:srgbClr>
          </a:solidFill>
          <a:ln w="12700">
            <a:solidFill>
              <a:srgbClr val="0891B2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3028950" y="3171825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891B2"/>
                </a:solidFill>
                <a:latin typeface="Microsoft YaHei"/>
                <a:ea typeface="Microsoft YaHei"/>
              </a:rPr>
              <a:t>H </a:t>
            </a:r>
            <a:r>
              <a:rPr lang="zh-CN" sz="975" b="1">
                <a:solidFill>
                  <a:srgbClr val="0891B2"/>
                </a:solidFill>
                <a:latin typeface="Microsoft YaHei"/>
                <a:ea typeface="Microsoft YaHei"/>
              </a:rPr>
              <a:t>连锁管控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3714750" y="318135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4057650" y="3114675"/>
            <a:ext cx="1066800" cy="266700"/>
          </a:xfrm>
          <a:prstGeom prst="roundRect">
            <a:avLst>
              <a:gd name="adj" fmla="val 71429"/>
            </a:avLst>
          </a:prstGeom>
          <a:solidFill>
            <a:srgbClr val="D97706">
              <a:alpha val="3137"/>
            </a:srgbClr>
          </a:solidFill>
          <a:ln w="12700">
            <a:solidFill>
              <a:srgbClr val="D97706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191000" y="3171825"/>
            <a:ext cx="676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D97706"/>
                </a:solidFill>
                <a:latin typeface="Microsoft YaHei"/>
                <a:ea typeface="Microsoft YaHei"/>
              </a:rPr>
              <a:t>WH </a:t>
            </a:r>
            <a:r>
              <a:rPr lang="zh-CN" sz="975" b="1">
                <a:solidFill>
                  <a:srgbClr val="D97706"/>
                </a:solidFill>
                <a:latin typeface="Microsoft YaHei"/>
                <a:ea typeface="Microsoft YaHei"/>
              </a:rPr>
              <a:t>仓库</a:t>
            </a:r>
            <a:r>
              <a:rPr lang="en-US" sz="975" b="1">
                <a:solidFill>
                  <a:srgbClr val="D97706"/>
                </a:solidFill>
                <a:latin typeface="Microsoft YaHei"/>
                <a:ea typeface="Microsoft YaHei"/>
              </a:rPr>
              <a:t>IoT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924425" y="31813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5200650" y="3114675"/>
            <a:ext cx="1019175" cy="266700"/>
          </a:xfrm>
          <a:prstGeom prst="roundRect">
            <a:avLst>
              <a:gd name="adj" fmla="val 71429"/>
            </a:avLst>
          </a:prstGeom>
          <a:solidFill>
            <a:srgbClr val="059669">
              <a:alpha val="3137"/>
            </a:srgbClr>
          </a:solidFill>
          <a:ln w="12700">
            <a:solidFill>
              <a:srgbClr val="059669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334000" y="3171825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59669"/>
                </a:solidFill>
                <a:latin typeface="Microsoft YaHei"/>
                <a:ea typeface="Microsoft YaHei"/>
              </a:rPr>
              <a:t>A </a:t>
            </a:r>
            <a:r>
              <a:rPr lang="zh-CN" sz="975" b="1">
                <a:solidFill>
                  <a:srgbClr val="059669"/>
                </a:solidFill>
                <a:latin typeface="Microsoft YaHei"/>
                <a:ea typeface="Microsoft YaHei"/>
              </a:rPr>
              <a:t>岗位助理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019800" y="31813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6296025" y="3114675"/>
            <a:ext cx="1085850" cy="266700"/>
          </a:xfrm>
          <a:prstGeom prst="roundRect">
            <a:avLst>
              <a:gd name="adj" fmla="val 71429"/>
            </a:avLst>
          </a:prstGeom>
          <a:solidFill>
            <a:srgbClr val="DC2626">
              <a:alpha val="3137"/>
            </a:srgbClr>
          </a:solidFill>
          <a:ln w="12700">
            <a:solidFill>
              <a:srgbClr val="DC2626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429375" y="3171825"/>
            <a:ext cx="695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DC2626"/>
                </a:solidFill>
                <a:latin typeface="Microsoft YaHei"/>
                <a:ea typeface="Microsoft YaHei"/>
              </a:rPr>
              <a:t>FH </a:t>
            </a:r>
            <a:r>
              <a:rPr lang="zh-CN" sz="975" b="1">
                <a:solidFill>
                  <a:srgbClr val="DC2626"/>
                </a:solidFill>
                <a:latin typeface="Microsoft YaHei"/>
                <a:ea typeface="Microsoft YaHei"/>
              </a:rPr>
              <a:t>会员营销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181850" y="31813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7458075" y="3114675"/>
            <a:ext cx="1114425" cy="266700"/>
          </a:xfrm>
          <a:prstGeom prst="roundRect">
            <a:avLst>
              <a:gd name="adj" fmla="val 71429"/>
            </a:avLst>
          </a:prstGeom>
          <a:solidFill>
            <a:srgbClr val="6366F1">
              <a:alpha val="3137"/>
            </a:srgbClr>
          </a:solidFill>
          <a:ln w="12700">
            <a:solidFill>
              <a:srgbClr val="6366F1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7591425" y="3171825"/>
            <a:ext cx="72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6366F1"/>
                </a:solidFill>
                <a:latin typeface="Microsoft YaHei"/>
                <a:ea typeface="Microsoft YaHei"/>
              </a:rPr>
              <a:t>SC SOP</a:t>
            </a:r>
            <a:r>
              <a:rPr lang="zh-CN" sz="975" b="1">
                <a:solidFill>
                  <a:srgbClr val="6366F1"/>
                </a:solidFill>
                <a:latin typeface="Microsoft YaHei"/>
                <a:ea typeface="Microsoft YaHei"/>
              </a:rPr>
              <a:t>合规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372475" y="31813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8648700" y="3114675"/>
            <a:ext cx="962025" cy="266700"/>
          </a:xfrm>
          <a:prstGeom prst="roundRect">
            <a:avLst>
              <a:gd name="adj" fmla="val 71429"/>
            </a:avLst>
          </a:prstGeom>
          <a:solidFill>
            <a:srgbClr val="0D9488">
              <a:alpha val="3137"/>
            </a:srgbClr>
          </a:solidFill>
          <a:ln w="12700">
            <a:solidFill>
              <a:srgbClr val="0D9488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782050" y="3171825"/>
            <a:ext cx="57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D9488"/>
                </a:solidFill>
                <a:latin typeface="Microsoft YaHei"/>
                <a:ea typeface="Microsoft YaHei"/>
              </a:rPr>
              <a:t>KT </a:t>
            </a:r>
            <a:r>
              <a:rPr lang="zh-CN" sz="975" b="1">
                <a:solidFill>
                  <a:srgbClr val="0D9488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9410700" y="31813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9686925" y="3114675"/>
            <a:ext cx="885825" cy="266700"/>
          </a:xfrm>
          <a:prstGeom prst="roundRect">
            <a:avLst>
              <a:gd name="adj" fmla="val 71429"/>
            </a:avLst>
          </a:prstGeom>
          <a:solidFill>
            <a:srgbClr val="EA580C">
              <a:alpha val="3137"/>
            </a:srgbClr>
          </a:solidFill>
          <a:ln w="12700">
            <a:solidFill>
              <a:srgbClr val="EA580C">
                <a:alpha val="1451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9820275" y="31718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A580C"/>
                </a:solidFill>
                <a:latin typeface="Microsoft YaHei"/>
                <a:ea typeface="Microsoft YaHei"/>
              </a:rPr>
              <a:t>S </a:t>
            </a:r>
            <a:r>
              <a:rPr lang="zh-CN" sz="975" b="1">
                <a:solidFill>
                  <a:srgbClr val="EA580C"/>
                </a:solidFill>
                <a:latin typeface="Microsoft YaHei"/>
                <a:ea typeface="Microsoft YaHei"/>
              </a:rPr>
              <a:t>供应链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0372725" y="31813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6 / 16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359" name="" descr="&lt;Slide&gt;&#10;  &lt;Box style={{ position: 'relative', width: '100%', height: '100%', background: 'linear-gradient(135deg, #EFF6FF 0%, #F0F9FF 50%, #EEF2FF 100%)' }}&gt;&#10;    &lt;Box style={{ position: 'absolute', top: -80, right: -80, width: 400, height: 400, borderRadius: '50%', background: 'radial-gradient(circle, rgba(37,99,235,0.08) 0%, transparent 70%)' }} /&gt;&#10;    &lt;Box style={{ position: 'absolute', bottom: -60, left: -60, width: 300, height: 300, borderRadius: '50%', background: 'radial-gradient(circle, rgba(124,58,237,0.06) 0%, transparent 70%)' }} /&gt;&#10;&#10;    &lt;Box style={{ position: 'relative', zIndex: 2, padding: '80px 90px', height: '100%', display: 'flex', flexDirection: 'column', justifyContent: 'center' }}&gt;&#10;      &lt;Text style={{ fontSize: 15, color: '#2563EB', fontWeight: '600', letterSpacing: 4, marginBottom: 20 }}&gt;ARCHITECTURE&lt;/Text&gt;&#10;      &lt;Text style={{ fontSize: 56, color: '#0F172A', fontWeight: 'bold', lineHeight: 1.15 }}&gt;技术架构&lt;/Text&gt;&#10;      &lt;Text style={{ fontSize: 20, color: '#64748B', marginTop: 20 }}&gt;三层闭环 · 边缘到云端 · 智能在两端&lt;/Text&gt;&#10;    &lt;/Box&gt;&#10;&#10;    &lt;Box style={{ position: 'absolute', bottom: 28, right: 50, zIndex: 2 }}&gt;&#10;      &lt;Text style={{ fontSize: 14, color: 'rgba(100,116,139,0.5)' }}&gt;7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FF6FF"/>
              </a:gs>
              <a:gs pos="50000">
                <a:srgbClr val="F0F9FF"/>
              </a:gs>
              <a:gs pos="100000">
                <a:srgbClr val="EEF2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9144000" y="-762000"/>
            <a:ext cx="3810000" cy="3810000"/>
          </a:xfrm>
          <a:custGeom>
            <a:pathLst>
              <a:path w="400" h="400">
                <a:moveTo>
                  <a:pt x="200" y="0"/>
                </a:moveTo>
                <a:lnTo>
                  <a:pt x="200" y="0"/>
                </a:lnTo>
                <a:cubicBezTo>
                  <a:pt x="310" y="0"/>
                  <a:pt x="400" y="90"/>
                  <a:pt x="400" y="200"/>
                </a:cubicBezTo>
                <a:lnTo>
                  <a:pt x="400" y="200"/>
                </a:lnTo>
                <a:cubicBezTo>
                  <a:pt x="400" y="310"/>
                  <a:pt x="310" y="400"/>
                  <a:pt x="200" y="400"/>
                </a:cubicBezTo>
                <a:lnTo>
                  <a:pt x="200" y="400"/>
                </a:lnTo>
                <a:cubicBezTo>
                  <a:pt x="90" y="400"/>
                  <a:pt x="0" y="310"/>
                  <a:pt x="0" y="200"/>
                </a:cubicBezTo>
                <a:lnTo>
                  <a:pt x="0" y="200"/>
                </a:lnTo>
                <a:cubicBezTo>
                  <a:pt x="0" y="90"/>
                  <a:pt x="90" y="0"/>
                  <a:pt x="200" y="0"/>
                </a:cubicBezTo>
                <a:close/>
              </a:path>
            </a:pathLst>
          </a:custGeom>
          <a:gradFill>
            <a:gsLst>
              <a:gs pos="0">
                <a:srgbClr val="2563EB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-571500" y="4572000"/>
            <a:ext cx="2857500" cy="2857500"/>
          </a:xfrm>
          <a:custGeom>
            <a:pathLst>
              <a:path w="300" h="300">
                <a:moveTo>
                  <a:pt x="150" y="0"/>
                </a:moveTo>
                <a:lnTo>
                  <a:pt x="150" y="0"/>
                </a:lnTo>
                <a:cubicBezTo>
                  <a:pt x="233" y="0"/>
                  <a:pt x="300" y="67"/>
                  <a:pt x="300" y="150"/>
                </a:cubicBezTo>
                <a:lnTo>
                  <a:pt x="300" y="150"/>
                </a:lnTo>
                <a:cubicBezTo>
                  <a:pt x="300" y="233"/>
                  <a:pt x="233" y="300"/>
                  <a:pt x="150" y="300"/>
                </a:cubicBezTo>
                <a:lnTo>
                  <a:pt x="150" y="300"/>
                </a:lnTo>
                <a:cubicBezTo>
                  <a:pt x="67" y="300"/>
                  <a:pt x="0" y="233"/>
                  <a:pt x="0" y="150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gradFill>
            <a:gsLst>
              <a:gs pos="0">
                <a:srgbClr val="7C3AED">
                  <a:alpha val="6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57250" y="2667000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2563EB"/>
                </a:solidFill>
                <a:latin typeface="Microsoft YaHei"/>
                <a:ea typeface="Microsoft YaHei"/>
              </a:rPr>
              <a:t>ARCHITECTURE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57250" y="3028950"/>
            <a:ext cx="104775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57250" y="3962400"/>
            <a:ext cx="1047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三层闭环</a:t>
            </a: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边缘到云端</a:t>
            </a:r>
            <a:r>
              <a:rPr lang="en-US" sz="150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64748B"/>
                </a:solidFill>
                <a:latin typeface="Microsoft YaHei"/>
                <a:ea typeface="Microsoft YaHei"/>
              </a:rPr>
              <a:t>智能在两端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7 / 16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367" name="" descr="&lt;Slide style={{ background: '#FFFFFF', padding: '40px 60px 32px' }}&gt;&#10;  &lt;Text style={{ fontSize: 15, color: '#64748B', fontWeight: '500', marginBottom: 6 }}&gt;THREE-LAYER ARCHITECTURE&lt;/Text&gt;&#10;  &lt;Text style={{ fontSize: 30, color: '#0F172A', fontWeight: 'bold', marginBottom: 20 }}&gt;三层闭环 · 边缘到云端&lt;/Text&gt;&#10;&#10;  &lt;Box style={{ borderRadius: 16, overflow: 'hidden', border: '1px solid #E2E8F0', marginBottom: 18, boxShadow: '0 2px 8px rgba(0,0,0,0.04)' }}&gt;&#10;    &lt;Box style={{ background: 'linear-gradient(180deg, rgba(8,145,178,0.05) 0%, rgba(37,99,235,0.03) 100%)', padding: '22px 28px' }}&gt;&#10;      &lt;Box style={{ display: 'flex', flexDirection: 'row', alignItems: 'center', gap: 12, marginBottom: 14 }}&gt;&#10;        &lt;Text style={{ fontSize: 20, fontWeight: 'bold', color: '#0891B2' }}&gt;L2 边缘层 · Jetson 推理&lt;/Text&gt;&#10;      &lt;/Box&gt;&#10;      &lt;Text style={{ fontSize: 16, color: '#334155', lineHeight: 1.5 }}&gt;YOLO + CLIP + VLM 七段推理管线 · 视频不上云 · 延迟 40-190ms&lt;/Text&gt;&#10;    &lt;/Box&gt;&#10;    &lt;Box style={{ height: 1, background: '#E2E8F0' }} /&gt;&#10;    &lt;Box style={{ display: 'flex', flexDirection: 'row', justifyContent: 'center', alignItems: 'center', padding: '8px 0' }}&gt;&#10;      &lt;Text style={{ fontSize: 18, color: '#94A3B8' }}&gt;↓ MQTT + HTTPS ↓&lt;/Text&gt;&#10;    &lt;/Box&gt;&#10;    &lt;Box style={{ height: 1, background: '#E2E8F0' }} /&gt;&#10;    &lt;Box style={{ background: 'linear-gradient(180deg, rgba(37,99,235,0.05) 0%, rgba(124,58,237,0.03) 100%)', padding: '22px 28px' }}&gt;&#10;      &lt;Box style={{ display: 'flex', flexDirection: 'row', alignItems: 'center', gap: 12, marginBottom: 14 }}&gt;&#10;        &lt;Text style={{ fontSize: 20, fontWeight: 'bold', color: '#2563EB' }}&gt;L3 平台层 · 云端引擎&lt;/Text&gt;&#10;      &lt;/Box&gt;&#10;      &lt;Text style={{ fontSize: 16, color: '#334155', lineHeight: 1.5 }}&gt;数据引擎 (3,566行) · Event Hub (18路由) · Dashboard · SOP引擎&lt;/Text&gt;&#10;    &lt;/Box&gt;&#10;    &lt;Box style={{ height: 1, background: '#E2E8F0' }} /&gt;&#10;    &lt;Box style={{ display: 'flex', flexDirection: 'row', justifyContent: 'center', alignItems: 'center', padding: '8px 0' }}&gt;&#10;      &lt;Text style={{ fontSize: 18, color: '#94A3B8' }}&gt;↓ HTTP / gRPC ↓&lt;/Text&gt;&#10;    &lt;/Box&gt;&#10;    &lt;Box style={{ height: 1, background: '#E2E8F0' }} /&gt;&#10;    &lt;Box style={{ background: 'linear-gradient(180deg, rgba(124,58,237,0.05) 0%, rgba(236,72,153,0.02) 100%)', padding: '22px 28px' }}&gt;&#10;      &lt;Box style={{ display: 'flex', flexDirection: 'row', alignItems: 'center', gap: 12, marginBottom: 14 }}&gt;&#10;        &lt;Text style={{ fontSize: 20, fontWeight: 'bold', color: '#7C3AED' }}&gt;L4 智能体层 · Agent&lt;/Text&gt;&#10;      &lt;/Box&gt;&#10;      &lt;Text style={{ fontSize: 16, color: '#334155', lineHeight: 1.5 }}&gt;店长 / 后厨 / 采购 / 供应商 Portal · 消息总线 · 知识库助理&lt;/Text&gt;&#10;    &lt;/Box&gt;&#10;  &lt;/Box&gt;&#10;&#10;  &lt;Box style={{&#10;    background: '#F8FAFC', borderRadius: 10, padding: '14px 22px',&#10;    border: '1px solid #E2E8F0', textAlign: 'center'&#10;  }}&gt;&#10;    &lt;Text style={{ fontSize: 16, color: '#64748B' }}&gt;&#10;      &lt;span style={{ color: '#0891B2' }}&gt;决策在边缘&lt;/span&gt; ·&#10;      &lt;span style={{ color: '#2563EB' }}&gt; 数据在云端&lt;/span&gt; ·&#10;      &lt;span style={{ color: '#7C3AED' }}&gt; 智能在两端&lt;/span&gt;&#10;    &lt;/Text&gt;&#10;  &lt;/Box&gt;&#10;&#10;  &lt;Box style={{ position: 'absolute', bottom: 28, right: 50 }}&gt;&#10;    &lt;Text style={{ fontSize: 14, color: 'rgba(100,116,139,0.4)' }}&gt;8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THREE-LAYER ARCHITECTURE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71500" y="609600"/>
            <a:ext cx="11049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三层闭环</a:t>
            </a:r>
            <a:r>
              <a:rPr lang="en-US" sz="22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边缘到云端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571500" y="1143000"/>
            <a:ext cx="11049000" cy="3933825"/>
          </a:xfrm>
          <a:prstGeom prst="roundRect">
            <a:avLst>
              <a:gd name="adj" fmla="val 3874"/>
            </a:avLst>
          </a:prstGeom>
          <a:ln w="12700">
            <a:solidFill>
              <a:srgbClr val="E2E8F0"/>
            </a:solidFill>
            <a:prstDash val="solid"/>
          </a:ln>
          <a:effectLst>
            <a:outerShdw blurRad="762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571500" y="1143000"/>
            <a:ext cx="11049000" cy="1057275"/>
          </a:xfrm>
          <a:custGeom>
            <a:pathLst>
              <a:path w="1160" h="111">
                <a:moveTo>
                  <a:pt x="1144" y="0"/>
                </a:moveTo>
                <a:cubicBezTo>
                  <a:pt x="1153" y="0"/>
                  <a:pt x="1160" y="7"/>
                  <a:pt x="1160" y="16"/>
                </a:cubicBezTo>
                <a:lnTo>
                  <a:pt x="1160" y="111"/>
                </a:lnTo>
                <a:lnTo>
                  <a:pt x="0" y="111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1144" y="0"/>
                </a:lnTo>
                <a:close/>
              </a:path>
            </a:pathLst>
          </a:custGeom>
          <a:gradFill>
            <a:gsLst>
              <a:gs pos="0">
                <a:srgbClr val="0891B2">
                  <a:alpha val="5000"/>
                </a:srgbClr>
              </a:gs>
              <a:gs pos="100000">
                <a:srgbClr val="2563EB">
                  <a:alpha val="3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38200" y="1352550"/>
            <a:ext cx="2066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891B2"/>
                </a:solidFill>
                <a:latin typeface="Microsoft YaHei"/>
                <a:ea typeface="Microsoft YaHei"/>
              </a:rPr>
              <a:t>L2 </a:t>
            </a:r>
            <a:r>
              <a:rPr lang="zh-CN" sz="1500" b="1">
                <a:solidFill>
                  <a:srgbClr val="0891B2"/>
                </a:solidFill>
                <a:latin typeface="Microsoft YaHei"/>
                <a:ea typeface="Microsoft YaHei"/>
              </a:rPr>
              <a:t>边缘层</a:t>
            </a:r>
            <a:r>
              <a:rPr lang="en-US" sz="1500" b="1">
                <a:solidFill>
                  <a:srgbClr val="0891B2"/>
                </a:solidFill>
                <a:latin typeface="Microsoft YaHei"/>
                <a:ea typeface="Microsoft YaHei"/>
              </a:rPr>
              <a:t> · Jetson </a:t>
            </a:r>
            <a:r>
              <a:rPr lang="zh-CN" sz="1500" b="1">
                <a:solidFill>
                  <a:srgbClr val="0891B2"/>
                </a:solidFill>
                <a:latin typeface="Microsoft YaHei"/>
                <a:ea typeface="Microsoft YaHei"/>
              </a:rPr>
              <a:t>推理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38200" y="1714500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YOLO + CLIP + VLM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七段推理管线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视频不上云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延迟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40-190ms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571500" y="220027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343525" y="2286000"/>
            <a:ext cx="1514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↓ MQTT + HTTPS ↓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571500" y="25717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571500" y="2581275"/>
            <a:ext cx="11049000" cy="1057275"/>
          </a:xfrm>
          <a:prstGeom prst="rect">
            <a:avLst/>
          </a:prstGeom>
          <a:gradFill>
            <a:gsLst>
              <a:gs pos="0">
                <a:srgbClr val="2563EB">
                  <a:alpha val="5000"/>
                </a:srgbClr>
              </a:gs>
              <a:gs pos="100000">
                <a:srgbClr val="7C3AED">
                  <a:alpha val="3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38200" y="2790825"/>
            <a:ext cx="1781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>L3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平台层</a:t>
            </a: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云端引擎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38200" y="3152775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数据引擎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(3,566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行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) · Event Hub (18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路由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) · Dashboard · SOP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引擎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571500" y="3638550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5438775" y="3724275"/>
            <a:ext cx="1323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↓ HTTP / gRPC ↓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571500" y="4010025"/>
            <a:ext cx="1104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571500" y="4019550"/>
            <a:ext cx="11049000" cy="1057275"/>
          </a:xfrm>
          <a:custGeom>
            <a:pathLst>
              <a:path w="1160" h="111">
                <a:moveTo>
                  <a:pt x="1160" y="95"/>
                </a:moveTo>
                <a:cubicBezTo>
                  <a:pt x="1160" y="104"/>
                  <a:pt x="1153" y="111"/>
                  <a:pt x="1144" y="111"/>
                </a:cubicBezTo>
                <a:lnTo>
                  <a:pt x="16" y="111"/>
                </a:lnTo>
                <a:cubicBezTo>
                  <a:pt x="7" y="111"/>
                  <a:pt x="0" y="104"/>
                  <a:pt x="0" y="95"/>
                </a:cubicBezTo>
                <a:lnTo>
                  <a:pt x="0" y="0"/>
                </a:lnTo>
                <a:lnTo>
                  <a:pt x="1160" y="0"/>
                </a:lnTo>
                <a:close/>
              </a:path>
            </a:pathLst>
          </a:custGeom>
          <a:gradFill>
            <a:gsLst>
              <a:gs pos="0">
                <a:srgbClr val="7C3AED">
                  <a:alpha val="5000"/>
                </a:srgbClr>
              </a:gs>
              <a:gs pos="100000">
                <a:srgbClr val="EC4899">
                  <a:alpha val="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1752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7C3AED"/>
                </a:solidFill>
                <a:latin typeface="Microsoft YaHei"/>
                <a:ea typeface="Microsoft YaHei"/>
              </a:rPr>
              <a:t>L4 </a:t>
            </a:r>
            <a:r>
              <a:rPr lang="zh-CN" sz="1500" b="1">
                <a:solidFill>
                  <a:srgbClr val="7C3AED"/>
                </a:solidFill>
                <a:latin typeface="Microsoft YaHei"/>
                <a:ea typeface="Microsoft YaHei"/>
              </a:rPr>
              <a:t>智能体层</a:t>
            </a:r>
            <a:r>
              <a:rPr lang="en-US" sz="1500" b="1">
                <a:solidFill>
                  <a:srgbClr val="7C3AED"/>
                </a:solidFill>
                <a:latin typeface="Microsoft YaHei"/>
                <a:ea typeface="Microsoft YaHei"/>
              </a:rPr>
              <a:t> · Agent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38200" y="4591050"/>
            <a:ext cx="1051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店长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后厨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采购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供应商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Portal ·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消息总线</a:t>
            </a:r>
            <a:r>
              <a:rPr lang="en-US" sz="120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334155"/>
                </a:solidFill>
                <a:latin typeface="Microsoft YaHei"/>
                <a:ea typeface="Microsoft YaHei"/>
              </a:rPr>
              <a:t>知识库助理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571500" y="5248275"/>
            <a:ext cx="11049000" cy="4572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81050" y="5381625"/>
            <a:ext cx="106299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0891B2"/>
                </a:solidFill>
                <a:latin typeface="Microsoft YaHei"/>
                <a:ea typeface="Microsoft YaHei"/>
              </a:rPr>
              <a:t>决策在边缘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</a:t>
            </a:r>
            <a:r>
              <a:rPr lang="en-US" sz="1200">
                <a:solidFill>
                  <a:srgbClr val="2563EB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2563EB"/>
                </a:solidFill>
                <a:latin typeface="Microsoft YaHei"/>
                <a:ea typeface="Microsoft YaHei"/>
              </a:rPr>
              <a:t>数据在云端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</a:t>
            </a:r>
            <a:r>
              <a:rPr lang="en-US" sz="1200">
                <a:solidFill>
                  <a:srgbClr val="7C3AED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7C3AED"/>
                </a:solidFill>
                <a:latin typeface="Microsoft YaHei"/>
                <a:ea typeface="Microsoft YaHei"/>
              </a:rPr>
              <a:t>智能在两端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8 / 16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390" name="" descr="&lt;Slide style={{ background: '#FFFFFF', padding: '45px 55px 35px' }}&gt;&#10;  &lt;Text style={{ fontSize: 15, color: '#64748B', fontWeight: '500', marginBottom: 6 }}&gt;CODE BASELINE&lt;/Text&gt;&#10;  &lt;Text style={{ fontSize: 30, color: '#0F172A', fontWeight: 'bold', marginBottom: 24 }}&gt;四层架构 · 43,569 行代码&lt;/Text&gt;&#10;&#10;  &lt;Box style={{ display: 'flex', flexDirection: 'row', gap: 24 }}&gt;&#10;    &lt;Box style={{ flex: 1, display: 'flex', flexDirection: 'column', gap: 10 }}&gt;&#10;      {[&#10;        { layer: 'L1 设备层', tech: '摄像头 · IoT传感器 · RFID读写器', color: '#64748B' },&#10;        { layer: 'L2 边缘层', tech: 'Jetson Nano/Orin · 7段推理管线 · 40-190ms', color: '#0891B2' },&#10;        { layer: 'L3 平台层', tech: '数据引擎(3,566行) · Event Hub(18路由) · Dashboard', color: '#2563EB' },&#10;        { layer: 'L4 应用层', tech: '四角色Agent · 移动端 · PDA · 大屏', color: '#7C3AED' }&#10;      ].map((item, i) =&gt; (&#10;        &lt;Box key={i} style={{&#10;          display: 'flex', flexDirection: 'row', alignItems: 'center', gap: 14,&#10;          background: '#F8FAFC', borderRadius: 10, padding: '14px 18px',&#10;          borderLeft: `4px solid ${item.color}`, boxShadow: '0 1px 3px rgba(0,0,0,0.03)'&#10;        }}&gt;&#10;          &lt;Text style={{&#10;            fontSize: 18, fontWeight: 'bold', color: item.color,&#10;            minWidth: 90&#10;          }}&gt;{item.layer}&lt;/Text&gt;&#10;          &lt;Text style={{ fontSize: 15, color: '#334155', lineHeight: 1.45 }}&gt;{item.tech}&lt;/Text&gt;&#10;        &lt;/Box&gt;&#10;      ))}&#10;    &lt;/Box&gt;&#10;&#10;    &lt;Box style={{ width: 260, display: 'flex', flexDirection: 'column', gap: 12 }}&gt;&#10;      &lt;Box style={{&#10;        borderRadius: 12, padding: '22px 20px',&#10;        background: 'linear-gradient(135deg, rgba(37,99,235,0.06) 0%, rgba(124,58,237,0.04) 100%)',&#10;        border: '1px solid #E2E8F0', textAlign: 'center'&#10;      }}&gt;&#10;        &lt;Text style={{&#10;          fontSize: 56, fontWeight: 'bold',&#10;          backgroundImage: 'linear-gradient(135deg, #2563EB 0%, #7C3AED 100%)',&#10;          backgroundClip: 'text', color: 'transparent', lineHeight: 1&#10;        }}&gt;43,569&lt;/Text&gt;&#10;        &lt;Text style={{ fontSize: 16, color: '#64748B', marginTop: 2 }}&gt;行代码&lt;/Text&gt;&#10;      &lt;/Box&gt;&#10;&#10;      &lt;Box style={{ display: 'flex', flexDirection: 'row', gap: 10 }}&gt;&#10;        &lt;Box style={{ flex: 1, background: '#F8FAFC', borderRadius: 10, padding: '14px 12px', textAlign: 'center', border: '1px solid #E2E8F0' }}&gt;&#10;          &lt;Text style={{ fontSize: 26, fontWeight: 'bold', color: '#2563EB' }}&gt;262&lt;/Text&gt;&#10;          &lt;Text style={{ fontSize: 12, color: '#64748B' }}&gt;py 文件&lt;/Text&gt;&#10;        &lt;/Box&gt;&#10;        &lt;Box style={{ flex: 1, background: '#F8FAFC', borderRadius: 10, padding: '14px 12px', textAlign: 'center', border: '1px solid #E2E8F0' }}&gt;&#10;          &lt;Text style={{ fontSize: 26, fontWeight: 'bold', color: '#7C3AED' }}&gt;45&lt;/Text&gt;&#10;          &lt;Text style={{ fontSize: 12, color: '#64748B' }}&gt;测试文件&lt;/Text&gt;&#10;        &lt;/Box&gt;&#10;      &lt;/Box&gt;&#10;&#10;      &lt;Box style={{ display: 'flex', flexDirection: 'row', gap: 10 }}&gt;&#10;        &lt;Box style={{ flex: 1, background: '#F8FAFC', borderRadius: 10, padding: '14px 12px', textAlign: 'center', border: '1px solid #E2E8F0' }}&gt;&#10;          &lt;Text style={{ fontSize: 26, fontWeight: 'bold', color: '#0891B2' }}&gt;85&lt;span style={{ fontSize: 14 }}&gt;%&lt;/span&gt;&lt;/Text&gt;&#10;          &lt;Text style={{ fontSize: 12, color: '#64748B' }}&gt;覆盖率&lt;/Text&gt;&#10;        &lt;/Box&gt;&#10;        &lt;Box style={{ flex: 1, background: '#FFFBEB', borderRadius: 10, padding: '14px 12px', textAlign: 'center', border: '1px solid #FDE68A' }}&gt;&#10;          &lt;Text style={{ fontSize: 20, fontWeight: 'bold', color: '#D97706' }}&gt;3,566&lt;/Text&gt;&#10;          &lt;Text style={{ fontSize: 12, color: '#64748B' }}&gt;数据引擎行数&lt;/Text&gt;&#10;        &lt;/Box&gt;&#10;      &lt;/Box&gt;&#10;    &lt;/Box&gt;&#10;  &lt;/Box&gt;&#10;&#10;  &lt;Box style={{ position: 'absolute', bottom: 28, right: 50 }}&gt;&#10;    &lt;Text style={{ fontSize: 14, color: 'rgba(100,116,139,0.4)' }}&gt;9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23875" y="428625"/>
            <a:ext cx="1114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CODE BASELINE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23875" y="657225"/>
            <a:ext cx="11144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四层架构</a:t>
            </a:r>
            <a:r>
              <a:rPr lang="en-US" sz="2250" b="1">
                <a:solidFill>
                  <a:srgbClr val="0F172A"/>
                </a:solidFill>
                <a:latin typeface="Microsoft YaHei"/>
                <a:ea typeface="Microsoft YaHei"/>
              </a:rPr>
              <a:t> · 43,569 </a:t>
            </a: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行代码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561975" y="1228725"/>
            <a:ext cx="8439150" cy="523875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/>
          <a:effectLst>
            <a:outerShdw blurRad="28575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561975" y="1228725"/>
            <a:ext cx="8439150" cy="523875"/>
          </a:xfrm>
          <a:custGeom>
            <a:pathLst>
              <a:path w="886" h="5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9"/>
                </a:lnTo>
                <a:cubicBezTo>
                  <a:pt x="4" y="52"/>
                  <a:pt x="6" y="54"/>
                  <a:pt x="9" y="55"/>
                </a:cubicBezTo>
                <a:cubicBezTo>
                  <a:pt x="4" y="54"/>
                  <a:pt x="0" y="50"/>
                  <a:pt x="0" y="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33425" y="13906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L1 </a:t>
            </a: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设备层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724025" y="1362075"/>
            <a:ext cx="20859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摄像头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· IoT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传感器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· RFID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读写器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561975" y="1847850"/>
            <a:ext cx="8439150" cy="523875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/>
          <a:effectLst>
            <a:outerShdw blurRad="28575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561975" y="1847850"/>
            <a:ext cx="8439150" cy="523875"/>
          </a:xfrm>
          <a:custGeom>
            <a:pathLst>
              <a:path w="886" h="5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9"/>
                </a:lnTo>
                <a:cubicBezTo>
                  <a:pt x="4" y="52"/>
                  <a:pt x="6" y="54"/>
                  <a:pt x="9" y="55"/>
                </a:cubicBezTo>
                <a:cubicBezTo>
                  <a:pt x="4" y="54"/>
                  <a:pt x="0" y="50"/>
                  <a:pt x="0" y="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33425" y="20097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91B2"/>
                </a:solidFill>
                <a:latin typeface="Microsoft YaHei"/>
                <a:ea typeface="Microsoft YaHei"/>
              </a:rPr>
              <a:t>L2 </a:t>
            </a:r>
            <a:r>
              <a:rPr lang="zh-CN" sz="1350" b="1">
                <a:solidFill>
                  <a:srgbClr val="0891B2"/>
                </a:solidFill>
                <a:latin typeface="Microsoft YaHei"/>
                <a:ea typeface="Microsoft YaHei"/>
              </a:rPr>
              <a:t>边缘层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724025" y="1981200"/>
            <a:ext cx="2800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Jetson Nano/Orin · 7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段推理管线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· 40-190ms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561975" y="2466975"/>
            <a:ext cx="8439150" cy="523875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/>
          <a:effectLst>
            <a:outerShdw blurRad="28575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403" name=""/>
          <p:cNvSpPr/>
          <p:nvPr/>
        </p:nvSpPr>
        <p:spPr>
          <a:xfrm rot="0" flipH="0" flipV="0">
            <a:off x="561975" y="2466975"/>
            <a:ext cx="8439150" cy="523875"/>
          </a:xfrm>
          <a:custGeom>
            <a:pathLst>
              <a:path w="886" h="5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9"/>
                </a:lnTo>
                <a:cubicBezTo>
                  <a:pt x="4" y="52"/>
                  <a:pt x="6" y="54"/>
                  <a:pt x="9" y="55"/>
                </a:cubicBezTo>
                <a:cubicBezTo>
                  <a:pt x="4" y="54"/>
                  <a:pt x="0" y="50"/>
                  <a:pt x="0" y="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33425" y="26289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>L3 </a:t>
            </a:r>
            <a:r>
              <a:rPr lang="zh-CN" sz="1350" b="1">
                <a:solidFill>
                  <a:srgbClr val="2563EB"/>
                </a:solidFill>
                <a:latin typeface="Microsoft YaHei"/>
                <a:ea typeface="Microsoft YaHei"/>
              </a:rPr>
              <a:t>平台层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724025" y="2600325"/>
            <a:ext cx="33337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数据引擎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(3,566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行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) · Event Hub(18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路由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) · Dashboard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561975" y="3086100"/>
            <a:ext cx="8439150" cy="523875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/>
          <a:effectLst>
            <a:outerShdw blurRad="28575" dist="9525" dir="5400000">
              <a:srgbClr val="000000">
                <a:alpha val="3000"/>
              </a:srgbClr>
            </a:outerShdw>
          </a:effectLst>
        </p:spPr>
        <p:txBody>
          <a:bodyPr/>
          <a:p/>
        </p:txBody>
      </p:sp>
      <p:sp>
        <p:nvSpPr>
          <p:cNvPr id="407" name=""/>
          <p:cNvSpPr/>
          <p:nvPr/>
        </p:nvSpPr>
        <p:spPr>
          <a:xfrm rot="0" flipH="0" flipV="0">
            <a:off x="561975" y="3086100"/>
            <a:ext cx="8439150" cy="523875"/>
          </a:xfrm>
          <a:custGeom>
            <a:pathLst>
              <a:path w="886" h="5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9"/>
                </a:lnTo>
                <a:cubicBezTo>
                  <a:pt x="4" y="52"/>
                  <a:pt x="6" y="54"/>
                  <a:pt x="9" y="55"/>
                </a:cubicBezTo>
                <a:cubicBezTo>
                  <a:pt x="4" y="54"/>
                  <a:pt x="0" y="50"/>
                  <a:pt x="0" y="4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733425" y="32480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7C3AED"/>
                </a:solidFill>
                <a:latin typeface="Microsoft YaHei"/>
                <a:ea typeface="Microsoft YaHei"/>
              </a:rPr>
              <a:t>L4 </a:t>
            </a:r>
            <a:r>
              <a:rPr lang="zh-CN" sz="1350" b="1">
                <a:solidFill>
                  <a:srgbClr val="7C3AED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724025" y="3219450"/>
            <a:ext cx="2200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四角色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Agent ·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移动端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· PDA ·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大屏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9191625" y="1228725"/>
            <a:ext cx="2476500" cy="1276350"/>
          </a:xfrm>
          <a:prstGeom prst="roundRect">
            <a:avLst>
              <a:gd name="adj" fmla="val 8955"/>
            </a:avLst>
          </a:prstGeom>
          <a:gradFill>
            <a:gsLst>
              <a:gs pos="0">
                <a:srgbClr val="2563EB">
                  <a:alpha val="6000"/>
                </a:srgbClr>
              </a:gs>
              <a:gs pos="100000">
                <a:srgbClr val="7C3AED">
                  <a:alpha val="4000"/>
                </a:srgbClr>
              </a:gs>
            </a:gsLst>
            <a:lin ang="2700000" scaled="1"/>
          </a:gra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9382125" y="1438275"/>
            <a:ext cx="2095500" cy="6477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4200" b="1">
                <a:gradFill>
                  <a:gsLst>
                    <a:gs pos="0">
                      <a:srgbClr val="2563EB"/>
                    </a:gs>
                    <a:gs pos="100000">
                      <a:srgbClr val="7C3AED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43,569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9382125" y="2105025"/>
            <a:ext cx="2095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行代码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9191625" y="2619375"/>
            <a:ext cx="1190625" cy="714375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9305925" y="2752725"/>
            <a:ext cx="9620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950" b="1">
                <a:solidFill>
                  <a:srgbClr val="2563EB"/>
                </a:solidFill>
                <a:latin typeface="Microsoft YaHei"/>
                <a:ea typeface="Microsoft YaHei"/>
              </a:rPr>
              <a:t>262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9305925" y="3057525"/>
            <a:ext cx="9620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py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文件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10477500" y="2619375"/>
            <a:ext cx="1190625" cy="714375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0591800" y="2752725"/>
            <a:ext cx="9620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950" b="1">
                <a:solidFill>
                  <a:srgbClr val="7C3AED"/>
                </a:solidFill>
                <a:latin typeface="Microsoft YaHei"/>
                <a:ea typeface="Microsoft YaHei"/>
              </a:rPr>
              <a:t>45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0591800" y="3057525"/>
            <a:ext cx="9620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测试文件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9191625" y="3448050"/>
            <a:ext cx="1190625" cy="714375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9305925" y="3581400"/>
            <a:ext cx="9620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950" b="1">
                <a:solidFill>
                  <a:srgbClr val="0891B2"/>
                </a:solidFill>
                <a:latin typeface="Microsoft YaHei"/>
                <a:ea typeface="Microsoft YaHei"/>
              </a:rPr>
              <a:t>85</a:t>
            </a:r>
            <a:r>
              <a:rPr lang="en-US" sz="1050" b="1">
                <a:solidFill>
                  <a:srgbClr val="0891B2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9305925" y="3886200"/>
            <a:ext cx="9620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覆盖率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10477500" y="3448050"/>
            <a:ext cx="1190625" cy="714375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0591800" y="3581400"/>
            <a:ext cx="962025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500" b="1">
                <a:solidFill>
                  <a:srgbClr val="D97706"/>
                </a:solidFill>
                <a:latin typeface="Microsoft YaHei"/>
                <a:ea typeface="Microsoft YaHei"/>
              </a:rPr>
              <a:t>3,566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0591800" y="3810000"/>
            <a:ext cx="9620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数据引擎行数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1372850" y="6429375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9 / 16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4" name="" descr="&lt;Slide&gt;&#10;  &lt;Box style={{ position: 'relative', width: '100%', height: '100%', background: 'linear-gradient(135deg, #EEF2FF 0%, #EDE9FE 40%, #EEF2FF 100%)' }}&gt;&#10;    &lt;Box style={{ position: 'absolute', top: -60, left: -60, width: 350, height: 350, borderRadius: '50%', background: 'radial-gradient(circle, rgba(99,102,241,0.08) 0%, transparent 70%)' }} /&gt;&#10;    &lt;Box style={{ position: 'absolute', bottom: -80, right: -80, width: 400, height: 400, borderRadius: '50%', background: 'radial-gradient(circle, rgba(37,99,235,0.05) 0%, transparent 70%)' }} /&gt;&#10;&#10;    &lt;Box style={{ position: 'relative', zIndex: 2, padding: '80px 90px', height: '100%', display: 'flex', flexDirection: 'column', justifyContent: 'center' }}&gt;&#10;      &lt;Text style={{ fontSize: 15, color: '#6366F1', fontWeight: '600', letterSpacing: 4, marginBottom: 20 }}&gt;DETAILED DESIGN v1.1&lt;/Text&gt;&#10;      &lt;Text style={{ fontSize: 56, color: '#0F172A', fontWeight: 'bold', lineHeight: 1.15 }}&gt;详细设计&lt;/Text&gt;&#10;      &lt;Text style={{ fontSize: 20, color: '#6366F1', marginTop: 20 }}&gt;9 大模块 · 19 张表 · 129 功能映射&lt;/Text&gt;&#10;    &lt;/Box&gt;&#10;&#10;    &lt;Box style={{ position: 'absolute', bottom: 28, right: 50, zIndex: 2 }}&gt;&#10;      &lt;Text style={{ fontSize: 14, color: 'rgba(100,116,139,0.5)' }}&gt;10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EF2FF"/>
              </a:gs>
              <a:gs pos="40000">
                <a:srgbClr val="EDE9FE"/>
              </a:gs>
              <a:gs pos="100000">
                <a:srgbClr val="EEF2F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-571500" y="-571500"/>
            <a:ext cx="3333750" cy="3333750"/>
          </a:xfrm>
          <a:custGeom>
            <a:pathLst>
              <a:path w="350" h="350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0" y="78"/>
                  <a:pt x="350" y="175"/>
                </a:cubicBezTo>
                <a:lnTo>
                  <a:pt x="350" y="175"/>
                </a:lnTo>
                <a:cubicBezTo>
                  <a:pt x="350" y="272"/>
                  <a:pt x="272" y="350"/>
                  <a:pt x="175" y="350"/>
                </a:cubicBezTo>
                <a:lnTo>
                  <a:pt x="175" y="350"/>
                </a:lnTo>
                <a:cubicBezTo>
                  <a:pt x="78" y="350"/>
                  <a:pt x="0" y="272"/>
                  <a:pt x="0" y="175"/>
                </a:cubicBezTo>
                <a:lnTo>
                  <a:pt x="0" y="175"/>
                </a:lnTo>
                <a:cubicBezTo>
                  <a:pt x="0" y="78"/>
                  <a:pt x="78" y="0"/>
                  <a:pt x="175" y="0"/>
                </a:cubicBezTo>
                <a:close/>
              </a:path>
            </a:pathLst>
          </a:custGeom>
          <a:gradFill>
            <a:gsLst>
              <a:gs pos="0">
                <a:srgbClr val="6366F1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9144000" y="3810000"/>
            <a:ext cx="3810000" cy="3810000"/>
          </a:xfrm>
          <a:custGeom>
            <a:pathLst>
              <a:path w="400" h="400">
                <a:moveTo>
                  <a:pt x="200" y="0"/>
                </a:moveTo>
                <a:lnTo>
                  <a:pt x="200" y="0"/>
                </a:lnTo>
                <a:cubicBezTo>
                  <a:pt x="310" y="0"/>
                  <a:pt x="400" y="90"/>
                  <a:pt x="400" y="200"/>
                </a:cubicBezTo>
                <a:lnTo>
                  <a:pt x="400" y="200"/>
                </a:lnTo>
                <a:cubicBezTo>
                  <a:pt x="400" y="310"/>
                  <a:pt x="310" y="400"/>
                  <a:pt x="200" y="400"/>
                </a:cubicBezTo>
                <a:lnTo>
                  <a:pt x="200" y="400"/>
                </a:lnTo>
                <a:cubicBezTo>
                  <a:pt x="90" y="400"/>
                  <a:pt x="0" y="310"/>
                  <a:pt x="0" y="200"/>
                </a:cubicBezTo>
                <a:lnTo>
                  <a:pt x="0" y="200"/>
                </a:lnTo>
                <a:cubicBezTo>
                  <a:pt x="0" y="90"/>
                  <a:pt x="90" y="0"/>
                  <a:pt x="200" y="0"/>
                </a:cubicBezTo>
                <a:close/>
              </a:path>
            </a:pathLst>
          </a:custGeom>
          <a:gradFill>
            <a:gsLst>
              <a:gs pos="0">
                <a:srgbClr val="2563EB">
                  <a:alpha val="5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57250" y="2667000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6366F1"/>
                </a:solidFill>
                <a:latin typeface="Microsoft YaHei"/>
                <a:ea typeface="Microsoft YaHei"/>
              </a:rPr>
              <a:t>DETAILED DESIGN v1.1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57250" y="3028950"/>
            <a:ext cx="104775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详细设计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57250" y="3962400"/>
            <a:ext cx="1047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6366F1"/>
                </a:solidFill>
                <a:latin typeface="Microsoft YaHei"/>
                <a:ea typeface="Microsoft YaHei"/>
              </a:rPr>
              <a:t>9 </a:t>
            </a:r>
            <a:r>
              <a:rPr lang="zh-CN" sz="1500">
                <a:solidFill>
                  <a:srgbClr val="6366F1"/>
                </a:solidFill>
                <a:latin typeface="Microsoft YaHei"/>
                <a:ea typeface="Microsoft YaHei"/>
              </a:rPr>
              <a:t>大模块</a:t>
            </a:r>
            <a:r>
              <a:rPr lang="en-US" sz="1500">
                <a:solidFill>
                  <a:srgbClr val="6366F1"/>
                </a:solidFill>
                <a:latin typeface="Microsoft YaHei"/>
                <a:ea typeface="Microsoft YaHei"/>
              </a:rPr>
              <a:t> · 19 </a:t>
            </a:r>
            <a:r>
              <a:rPr lang="zh-CN" sz="1500">
                <a:solidFill>
                  <a:srgbClr val="6366F1"/>
                </a:solidFill>
                <a:latin typeface="Microsoft YaHei"/>
                <a:ea typeface="Microsoft YaHei"/>
              </a:rPr>
              <a:t>张表</a:t>
            </a:r>
            <a:r>
              <a:rPr lang="en-US" sz="1500">
                <a:solidFill>
                  <a:srgbClr val="6366F1"/>
                </a:solidFill>
                <a:latin typeface="Microsoft YaHei"/>
                <a:ea typeface="Microsoft YaHei"/>
              </a:rPr>
              <a:t> · 129 </a:t>
            </a:r>
            <a:r>
              <a:rPr lang="zh-CN" sz="1500">
                <a:solidFill>
                  <a:srgbClr val="6366F1"/>
                </a:solidFill>
                <a:latin typeface="Microsoft YaHei"/>
                <a:ea typeface="Microsoft YaHei"/>
              </a:rPr>
              <a:t>功能映射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30617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22" name="" descr="&lt;Slide style={{ background: '#FFFFFF', padding: '42px 55px 32px' }}&gt;&#10;  &lt;Box style={{ display: 'flex', flexDirection: 'row', marginBottom: 20 }}&gt;&#10;    &lt;Box style={{ width: 180, background: 'linear-gradient(180deg, rgba(37,99,235,0.07) 0%, rgba(37,99,235,0.02) 100%)', borderRadius: 10, padding: '18px 16px', marginRight: 20, display: 'flex', flexDirection: 'column', justifyContent: 'center', border: '1px solid #E2E8F0' }}&gt;&#10;      &lt;Text style={{ fontSize: 14, color: '#2563EB', fontWeight: '600', letterSpacing: 2, marginBottom: 8 }}&gt;9 CORE&lt;/Text&gt;&#10;      &lt;Text style={{ fontSize: 14, color: '#2563EB', fontWeight: '600', letterSpacing: 2 }}&gt;MODULES&lt;/Text&gt;&#10;      &lt;Text style={{ fontSize: 12, color: '#64748B', marginTop: 10, lineHeight: 1.5 }}&gt;核心模块接口定义&lt;/Text&gt;&#10;    &lt;/Box&gt;&#10;    &lt;Box style={{ flex: 1 }}&gt;&#10;      &lt;Text style={{ fontSize: 28, color: '#0F172A', fontWeight: 'bold' }}&gt;完整映射 · 从需求到实现&lt;/Text&gt;&#10;      &lt;Text style={{ fontSize: 14, color: '#64748B', marginTop: 6 }}&gt;129项功能 → 模块接口 → API端点 → 数据库表&lt;/Text&gt;&#10;    &lt;/Box&gt;&#10;  &lt;/Box&gt;&#10;&#10;  &lt;Box style={{ display: 'flex', flexDirection: 'column', gap: 7 }}&gt;&#10;    {[&#10;      { num: '①', name: '边缘AI引擎', desc: '7段管线 + 双模式推理 (YOLO/CLIP/VLM)', new: false },&#10;      { num: '②', name: 'Event Hub', desc: '18路由域事件驱动中枢', new: false },&#10;      { num: '③', name: '数据引擎', desc: 'N01-N06 六大能力 (3,566行)', new: false },&#10;      { num: '④', name: '集成桥接', desc: 'POS / ERP / 采购系统对接', new: false },&#10;      { num: '⑤', name: '告警网关', desc: '分级告警 + 多渠道推送', new: false },&#10;      { num: '★⑥', name: 'SOP合规引擎', desc: '6种检查策略 + 违规追踪', new: true },&#10;      { num: '★⑦', name: '知识库检索', desc: 'BM25+Vector RRF融合检索', new: true },&#10;      { num: '★⑧', name: '仓库IoT管理', desc: 'RFID批次 + FEFO监控 + 温湿度', new: true },&#10;      { num: '★⑨', name: '会员营销层', desc: '边缘人脸识别 + 积分DSL引擎', new: true }&#10;    ].map((m, i) =&gt; (&#10;      &lt;Box key={i} style={{&#10;        display: 'flex', flexDirection: 'row', alignItems: 'center', gap: 12,&#10;        background: m.new ? '#EFF6FF' : '#F8FAFC',&#10;        borderRadius: 8, padding: '10px 16px',&#10;        borderLeft: m.new ? '3px solid #3B82F6' : '3px solid #E2E8F0',&#10;        boxShadow: m.new ? '0 1px 4px rgba(59,130,246,0.06)' : 'none'&#10;      }}&gt;&#10;        &lt;Text style={{&#10;          fontSize: m.new ? 15 : 14,&#10;          fontWeight: 'bold',&#10;          color: m.new ? '#2563EB' : '#94A3B8',&#10;          minWidth: 32&#10;        }}&gt;{m.num}&lt;/Text&gt;&#10;        &lt;Text style={{&#10;          fontSize: 15,&#10;          fontWeight: '600',&#10;          color: m.new ? '#2563EB' : '#0F172A',&#10;          minWidth: 110&#10;        }}&gt;{m.name}&lt;/Text&gt;&#10;        &lt;Text style={{ fontSize: 13, color: '#64748B', flex: 1 }}&gt;{m.desc}&lt;/Text&gt;&#10;      &lt;/Box&gt;&#10;    ))}&#10;  &lt;/Box&gt;&#10;&#10;  &lt;Text style={{ fontSize: 12, color: '#94A3B8', marginTop: 10 }}&gt;★ v1.1 新增模块 (原v1.0仅5个模块)&lt;/Text&gt;&#10;&#10;  &lt;Box style={{ position: 'absolute', bottom: 28, right: 50 }}&gt;&#10;    &lt;Text style={{ fontSize: 14, color: 'rgba(100,116,139,0.4)' }}&gt;11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523875" y="400050"/>
            <a:ext cx="1714500" cy="104775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2563EB">
                  <a:alpha val="7000"/>
                </a:srgbClr>
              </a:gs>
              <a:gs pos="100000">
                <a:srgbClr val="2563EB">
                  <a:alpha val="2000"/>
                </a:srgbClr>
              </a:gs>
            </a:gsLst>
            <a:lin ang="5400000" scaled="1"/>
          </a:gra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76275" y="571500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2563EB"/>
                </a:solidFill>
                <a:latin typeface="Microsoft YaHei"/>
                <a:ea typeface="Microsoft YaHei"/>
              </a:rPr>
              <a:t>9 CORE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76275" y="809625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2563EB"/>
                </a:solidFill>
                <a:latin typeface="Microsoft YaHei"/>
                <a:ea typeface="Microsoft YaHei"/>
              </a:rPr>
              <a:t>MODULES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76275" y="1066800"/>
            <a:ext cx="14097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核心模块接口定义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2428875" y="400050"/>
            <a:ext cx="9239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完整映射</a:t>
            </a: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从需求到实现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428875" y="781050"/>
            <a:ext cx="923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129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项功能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模块接口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→ API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端点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数据库表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52450" y="1638300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552450" y="1638300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04850" y="1743075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23950" y="173355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边缘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AI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引擎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286000" y="1743075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7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段管线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双模式推理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(YOLO/CLIP/VLM)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552450" y="2066925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552450" y="2066925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04850" y="2171700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123950" y="216217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Event Hub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2286000" y="2171700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18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路由域事件驱动中枢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552450" y="2495550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552450" y="2495550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04850" y="2600325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23950" y="259080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数据引擎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2286000" y="2600325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N01-N06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六大能力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(3,566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行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552450" y="2924175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552450" y="2924175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04850" y="3028950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23950" y="301942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集成桥接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2286000" y="3028950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POS / ERP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采购系统对接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52450" y="3352800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552450" y="3352800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04850" y="3457575"/>
            <a:ext cx="304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23950" y="344805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告警网关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2286000" y="3457575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分级告警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多渠道推送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552450" y="3781425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  <a:effectLst>
            <a:outerShdw blurRad="38100" dist="9525" dir="5400000">
              <a:srgbClr val="3B82F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552450" y="3781425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04850" y="3876675"/>
            <a:ext cx="30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</a:rPr>
              <a:t>★⑥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123950" y="387667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SOP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合规引擎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2286000" y="3886200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6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种检查策略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违规追踪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52450" y="4210050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  <a:effectLst>
            <a:outerShdw blurRad="38100" dist="9525" dir="5400000">
              <a:srgbClr val="3B82F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552450" y="4210050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04850" y="4305300"/>
            <a:ext cx="30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</a:rPr>
              <a:t>★⑦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123950" y="430530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知识库检索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2286000" y="4314825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BM25+Vector RRF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融合检索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552450" y="4638675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  <a:effectLst>
            <a:outerShdw blurRad="38100" dist="9525" dir="5400000">
              <a:srgbClr val="3B82F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552450" y="4638675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04850" y="4733925"/>
            <a:ext cx="30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</a:rPr>
              <a:t>★⑧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23950" y="473392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仓库</a:t>
            </a: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>IoT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管理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2286000" y="4743450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RFID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批次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FEFO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监控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温湿度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552450" y="5067300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  <a:effectLst>
            <a:outerShdw blurRad="38100" dist="9525" dir="5400000">
              <a:srgbClr val="3B82F6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552450" y="5067300"/>
            <a:ext cx="11144250" cy="361950"/>
          </a:xfrm>
          <a:custGeom>
            <a:pathLst>
              <a:path w="1170" h="3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33"/>
                </a:lnTo>
                <a:cubicBezTo>
                  <a:pt x="3" y="35"/>
                  <a:pt x="5" y="37"/>
                  <a:pt x="7" y="38"/>
                </a:cubicBezTo>
                <a:cubicBezTo>
                  <a:pt x="3" y="37"/>
                  <a:pt x="0" y="34"/>
                  <a:pt x="0" y="3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04850" y="5162550"/>
            <a:ext cx="30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</a:rPr>
              <a:t>★⑨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23950" y="516255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会员营销层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2286000" y="5172075"/>
            <a:ext cx="922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边缘人脸识别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积分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DSL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引擎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23875" y="5524500"/>
            <a:ext cx="11144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★ v1.1 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新增模块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 (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原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v1.0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仅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5</a:t>
            </a:r>
            <a:r>
              <a:rPr lang="zh-CN" sz="900">
                <a:solidFill>
                  <a:srgbClr val="94A3B8"/>
                </a:solidFill>
                <a:latin typeface="Microsoft YaHei"/>
                <a:ea typeface="Microsoft YaHei"/>
              </a:rPr>
              <a:t>个模块</a:t>
            </a: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315700" y="64293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77" name="" descr="&lt;Slide style={{ background: '#FFFFFF', padding: '45px 60px 35px', display: 'flex', flexDirection: 'column', alignItems: 'center' }}&gt;&#10;  &lt;Text style={{ fontSize: 15, color: '#64748B', fontWeight: '500', marginBottom: 8 }}&gt;DATABASE SCHEMA&lt;/Text&gt;&#10;  &lt;Text style={{ fontSize: 28, color: '#0F172A', fontWeight: 'bold', marginBottom: 24 }}&gt;19 张核心业务表&lt;/Text&gt;&#10;&#10;  &lt;Box style={{&#10;    display: 'flex', flexDirection: 'column', alignItems: 'center', marginBottom: 24&#10;  }}&gt;&#10;    &lt;Text style={{&#10;      fontSize: 88,&#10;      fontWeight: 'bold',&#10;      backgroundImage: 'linear-gradient(135deg, #2563EB 0%, #0891B2 100%)',&#10;      backgroundClip: 'text', color: 'transparent', lineHeight: 1&#10;    }}&gt;19&lt;span style={{ fontSize: 44 }}&gt;张&lt;/span&gt;&lt;/Text&gt;&#10;    &lt;Text style={{ fontSize: 16, color: '#64748B', marginTop: 4 }}&gt;v1.0: 10张 → v1.1: 19张 (+9张新增)&lt;/Text&gt;&#10;  &lt;/Box&gt;&#10;&#10;  &lt;Box style={{ display: 'flex', flexDirection: 'row', flexWrap: 'wrap', gap: 7, justifyContent: 'center', maxWidth: 900, marginBottom: 28 }}&gt;&#10;    {['users 用户', 'sop_templates SOP模板', 'sop_violations 违规记录', 'knowledge_base 知识库', 'members 会员', 'points_transactions 积分', 'org_structure 组织架构', 'audit_logs 审计日志', 'alerts 告警记录'].map((t, i) =&gt; (&#10;      &lt;Box key={i} style={{&#10;        background: '#F8FAFC', borderRadius: 6,&#10;        padding: '6px 14px', border: '1px solid #E2E8F0'&#10;      }}&gt;&#10;        &lt;Text style={{ fontSize: 13, color: '#334155' }}&gt;{t}&lt;/Text&gt;&#10;      &lt;/Box&gt;&#10;    ))}&#10;    &lt;Box style={{&#10;      background: '#EFF6FF', borderRadius: 6,&#10;      padding: '6px 14px', border: '1px solid #BFDBFE'&#10;    }}&gt;&#10;      &lt;Text style={{ fontSize: 13, color: '#2563EB' }}&gt;+10 更多业务表...&lt;/Text&gt;&#10;    &lt;/Box&gt;&#10;  &lt;/Box&gt;&#10;&#10;  &lt;Box style={{ width: 120, height: 2, background: 'linear-gradient(90deg, transparent, #0891B2, #2563EB, transparent)', borderRadius: 1, marginBottom: 20 }} /&gt;&#10;&#10;  &lt;Text style={{ fontSize: 72, color: 'rgba(203,213,225,0.6)', fontWeight: 'bold', lineHeight: 1, alignSelf: 'flex-start', marginLeft: 80 }}&gt;&quot;&lt;/Text&gt;&#10;  &lt;Box style={{ display: 'flex', flexDirection: 'column', alignItems: 'center', gap: 4, marginTop: -40 }}&gt;&#10;    &lt;Text style={{ fontSize: 22, color: '#0F172A', fontWeight: '600', lineHeight: 1.5 }}&gt;视频不上云 · 决策在边缘 · 数据在云端 · 智能在两端&lt;/Text&gt;&#10;  &lt;/Box&gt;&#10;&#10;  &lt;Box style={{ position: 'absolute', bottom: 28, right: 50 }}&gt;&#10;    &lt;Text style={{ fontSize: 14, color: 'rgba(100,116,139,0.4)' }}&gt;12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400675" y="428625"/>
            <a:ext cx="1400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DATABASE SCHEMA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114925" y="676275"/>
            <a:ext cx="19716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19 </a:t>
            </a: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张核心业务表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429250" y="1228725"/>
            <a:ext cx="135255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gradFill>
                  <a:gsLst>
                    <a:gs pos="0">
                      <a:srgbClr val="2563EB"/>
                    </a:gs>
                    <a:gs pos="100000">
                      <a:srgbClr val="0891B2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19</a:t>
            </a:r>
            <a:r>
              <a:rPr lang="zh-CN" sz="3300" b="1">
                <a:gradFill>
                  <a:gsLst>
                    <a:gs pos="0">
                      <a:srgbClr val="2563EB"/>
                    </a:gs>
                    <a:gs pos="100000">
                      <a:srgbClr val="0891B2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895850" y="2276475"/>
            <a:ext cx="2409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v1.0: 10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张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→ v1.1: 19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张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(+9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张新增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)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1352550" y="2695575"/>
            <a:ext cx="857250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485900" y="275272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users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用户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2276475" y="2695575"/>
            <a:ext cx="1619250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409825" y="2752725"/>
            <a:ext cx="1352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sop_templates SOP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3962400" y="2695575"/>
            <a:ext cx="1590675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095750" y="2752725"/>
            <a:ext cx="1323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sop_violations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违规记录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5619750" y="2695575"/>
            <a:ext cx="1609725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753100" y="2752725"/>
            <a:ext cx="1343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knowledge_base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7296150" y="2695575"/>
            <a:ext cx="1066800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429500" y="2752725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members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会员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1295400" y="3028950"/>
            <a:ext cx="1619250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428750" y="3086100"/>
            <a:ext cx="1352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points_transactions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积分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2981325" y="3028950"/>
            <a:ext cx="1533525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114675" y="3086100"/>
            <a:ext cx="126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org_structure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组织架构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4581525" y="3028950"/>
            <a:ext cx="1362075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714875" y="3086100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audit_logs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审计日志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010275" y="3028950"/>
            <a:ext cx="1104900" cy="266700"/>
          </a:xfrm>
          <a:prstGeom prst="roundRect">
            <a:avLst>
              <a:gd name="adj" fmla="val 2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143625" y="3086100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alerts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告警记录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7181850" y="3028950"/>
            <a:ext cx="1238250" cy="266700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315200" y="3086100"/>
            <a:ext cx="971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563EB"/>
                </a:solidFill>
                <a:latin typeface="Microsoft YaHei"/>
                <a:ea typeface="Microsoft YaHei"/>
              </a:rPr>
              <a:t>+10 </a:t>
            </a:r>
            <a:r>
              <a:rPr lang="zh-CN" sz="975">
                <a:solidFill>
                  <a:srgbClr val="2563EB"/>
                </a:solidFill>
                <a:latin typeface="Microsoft YaHei"/>
                <a:ea typeface="Microsoft YaHei"/>
              </a:rPr>
              <a:t>更多业务表</a:t>
            </a:r>
            <a:r>
              <a:rPr lang="en-US" sz="975">
                <a:solidFill>
                  <a:srgbClr val="2563EB"/>
                </a:solidFill>
                <a:latin typeface="Microsoft YaHei"/>
                <a:ea typeface="Microsoft YaHei"/>
              </a:rPr>
              <a:t>...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5524500" y="3562350"/>
            <a:ext cx="114300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>
                  <a:alpha val="0"/>
                </a:srgbClr>
              </a:gs>
              <a:gs pos="33333">
                <a:srgbClr val="0891B2"/>
              </a:gs>
              <a:gs pos="66667">
                <a:srgbClr val="2563EB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333500" y="3771900"/>
            <a:ext cx="3333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CBD5E1">
                    <a:alpha val="60000"/>
                  </a:srgbClr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724275" y="4219575"/>
            <a:ext cx="4752975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视频不上云</a:t>
            </a: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决策在边缘</a:t>
            </a: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数据在云端</a:t>
            </a: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智能在两端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30617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07" name="" descr="&lt;Slide style={{ background: '#FFFFFF', padding: '42px 55px 32px' }}&gt;&#10;  &lt;Text style={{ fontSize: 15, color: '#64748B', fontWeight: '500', marginBottom: 6 }}&gt;DOCUMENT CHAIN&lt;/Text&gt;&#10;  &lt;Text style={{ fontSize: 28, color: '#0F172A', fontWeight: 'bold', marginBottom: 22 }}&gt;六层文档 · 全程追溯&lt;/Text&gt;&#10;&#10;  &lt;Box style={{ display: 'flex', flexDirection: 'row', gap: 24 }}&gt;&#10;    &lt;Box style={{ flex: 1, display: 'flex', flexDirection: 'column', gap: 8 }}&gt;&#10;      {[&#10;        { num: '1', name: '市场调研 v2.0', sub: '行业数据 + 竞品ROI + 政策红利', color: '#DC2626' },&#10;        { num: '2', name: 'PRD v5.3i', sub: '129项功能 · 2,839行', color: '#D97706' },&#10;        { num: '3', name: '产品设计', sub: '灵魂解读 + 竞品定位 + 全景分析', color: '#EA580C' },&#10;        { num: '4', name: '解决方案架构 v1.0', sub: '四层组件 + 技术选型 + 部署方案', color: '#2563EB' },&#10;        { num: '5', name: '总体架构 v2.0', sub: '4+1视图 + ADR决策记录', color: '#7C3AED' },&#10;        { num: '6', name: '详细架构 v1.1', sub: '9模块 · 19表 · 129功能映射 · 3,380行', color: '#0891B2', highlight: true }&#10;      ].map((item, i) =&gt; (&#10;        &lt;Box key={i} style={{&#10;          display: 'flex', flexDirection: 'row', alignItems: 'center', gap: 12,&#10;          background: item.highlight ? '#ECFEFF' : '#F8FAFC',&#10;          borderRadius: 8, padding: '11px 14px',&#10;          border: item.highlight ? '1px solid #99F6E4' : '1px solid #E2E8F0',&#10;          boxShadow: item.highlight ? '0 1px 4px rgba(8,145,178,0.06)' : 'none'&#10;        }}&gt;&#10;          &lt;Box style={{&#10;            width: 26, height: 26, borderRadius: '50%',&#10;            background: item.color, display: 'flex',&#10;            alignItems: 'center', justifyContent: 'center', flexShrink: 0&#10;          }}&gt;&#10;            &lt;Text style={{ fontSize: 13, fontWeight: 'bold', color: '#FFF' }}&gt;{item.num}&lt;/Text&gt;&#10;          &lt;/Box&gt;&#10;          &lt;Box&gt;&#10;            &lt;Text style={{&#10;              fontSize: 15,&#10;              fontWeight: '600',&#10;              color: item.highlight ? '#0E7490' : '#0F172A'&#10;            }}&gt;{item.name}&lt;/Text&gt;&#10;            &lt;Text style={{ fontSize: 12, color: '#64748B' }}&gt;{item.sub}&lt;/Text&gt;&#10;          &lt;/Box&gt;&#10;        &lt;/Box&gt;&#10;      ))}&#10;    &lt;/Box&gt;&#10;&#10;    &lt;Box style={{ width: 240, display: 'flex', flexDirection: 'column', gap: 10 }}&gt;&#10;      &lt;Box style={{&#10;        borderRadius: 10, padding: '18px 16px',&#10;        background: 'linear-gradient(135deg, rgba(37,99,235,0.04) 0%, rgba(124,58,237,0.02) 100%)',&#10;        border: '1px solid #E2E8F0'&#10;      }}&gt;&#10;        &lt;Text style={{ fontSize: 13, color: '#2563EB', fontWeight: '600', marginBottom: 10 }}&gt;链路通过率&lt;/Text&gt;&#10;        {[&#10;          { label: '市场→PRD', rate: '96%' },&#10;          { label: 'PRD→产品', rate: '100%' },&#10;          { label: '产品→方案', rate: '100%' },&#10;          { label: '方案→总体', rate: '92%' },&#10;          { label: '总体→详细', rate: '95%' }&#10;        ].map((r, i) =&gt; (&#10;          &lt;Box key={i} style={{ display: 'flex', flexDirection: 'row', justifyContent: 'space-between', alignItems: 'center', padding: '5px 0', borderBottom: i &lt; 4 ? '1px solid #F1F5F9' : 'none' }}&gt;&#10;            &lt;Text style={{ fontSize: 13, color: '#64748B' }}&gt;{r.label}&lt;/Text&gt;&#10;            &lt;Text style={{ fontSize: 13, fontWeight: '600', color: r.rate === '100%' ? '#059669' : '#2563EB' }}&gt;{r.rate}&lt;/Text&gt;&#10;          &lt;/Box&gt;&#10;        ))}&#10;      &lt;/Box&gt;&#10;&#10;      &lt;Box style={{&#10;        borderRadius: 10, padding: '16px',&#10;        background: '#F8FAFC', border: '1px solid #E2E8F0'&#10;      }}&gt;&#10;        &lt;Text style={{ fontSize: 13, color: '#64748B', marginBottom: 6 }}&gt;元数据标准&lt;/Text&gt;&#10;        &lt;Text style={{ fontSize: 13, color: '#334155', lineHeight: 1.55 }}&gt;版本 / 日期 / 上游输入(带链接) / 下游传递(带链接) / 代码基线 — 四核心字段统一&lt;/Text&gt;&#10;      &lt;/Box&gt;&#10;&#10;      &lt;Box style={{&#10;        borderRadius: 10, padding: '16px',&#10;        background: '#ECFDF5', border: '1px solid #A7F3D0'&#10;      }}&gt;&#10;        &lt;Text style={{ fontSize: 13, color: '#059669', fontWeight: '600', marginBottom: 4 }}&gt;✅ 一致性校验&lt;/Text&gt;&#10;        &lt;Text style={{ fontSize: 12, color: '#64748B', lineHeight: 1.45 }}&gt;全链路数据基线已统一：43,569行 / 262py / 3,566行数据引擎&lt;/Text&gt;&#10;      &lt;/Box&gt;&#10;    &lt;/Box&gt;&#10;  &lt;/Box&gt;&#10;&#10;  &lt;Box style={{ position: 'absolute', bottom: 28, right: 50 }}&gt;&#10;    &lt;Text style={{ fontSize: 14, color: 'rgba(100,116,139,0.4)' }}&gt;13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23875" y="400050"/>
            <a:ext cx="1114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DOCUMENT CHAIN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23875" y="628650"/>
            <a:ext cx="11144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六层文档</a:t>
            </a: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 · </a:t>
            </a: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全程追溯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523875" y="1162050"/>
            <a:ext cx="862965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657225" y="1304925"/>
            <a:ext cx="247650" cy="247650"/>
          </a:xfrm>
          <a:custGeom>
            <a:pathLst>
              <a:path w="26" h="26">
                <a:moveTo>
                  <a:pt x="13" y="0"/>
                </a:moveTo>
                <a:lnTo>
                  <a:pt x="13" y="0"/>
                </a:lnTo>
                <a:cubicBezTo>
                  <a:pt x="20" y="0"/>
                  <a:pt x="26" y="6"/>
                  <a:pt x="26" y="13"/>
                </a:cubicBezTo>
                <a:lnTo>
                  <a:pt x="26" y="13"/>
                </a:lnTo>
                <a:cubicBezTo>
                  <a:pt x="26" y="20"/>
                  <a:pt x="20" y="26"/>
                  <a:pt x="13" y="26"/>
                </a:cubicBezTo>
                <a:lnTo>
                  <a:pt x="13" y="26"/>
                </a:lnTo>
                <a:cubicBezTo>
                  <a:pt x="6" y="26"/>
                  <a:pt x="0" y="20"/>
                  <a:pt x="0" y="13"/>
                </a:cubicBezTo>
                <a:lnTo>
                  <a:pt x="0" y="13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42950" y="13525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019175" y="1266825"/>
            <a:ext cx="1609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市场调研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 v2.0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19175" y="1438275"/>
            <a:ext cx="1609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行业数据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竞品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ROI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政策红利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523875" y="1762125"/>
            <a:ext cx="862965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657225" y="1905000"/>
            <a:ext cx="247650" cy="247650"/>
          </a:xfrm>
          <a:custGeom>
            <a:pathLst>
              <a:path w="26" h="26">
                <a:moveTo>
                  <a:pt x="13" y="0"/>
                </a:moveTo>
                <a:lnTo>
                  <a:pt x="13" y="0"/>
                </a:lnTo>
                <a:cubicBezTo>
                  <a:pt x="20" y="0"/>
                  <a:pt x="26" y="6"/>
                  <a:pt x="26" y="13"/>
                </a:cubicBezTo>
                <a:lnTo>
                  <a:pt x="26" y="13"/>
                </a:lnTo>
                <a:cubicBezTo>
                  <a:pt x="26" y="20"/>
                  <a:pt x="20" y="26"/>
                  <a:pt x="13" y="26"/>
                </a:cubicBezTo>
                <a:lnTo>
                  <a:pt x="13" y="26"/>
                </a:lnTo>
                <a:cubicBezTo>
                  <a:pt x="6" y="26"/>
                  <a:pt x="0" y="20"/>
                  <a:pt x="0" y="13"/>
                </a:cubicBezTo>
                <a:lnTo>
                  <a:pt x="0" y="13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42950" y="19526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019175" y="1866900"/>
            <a:ext cx="1038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PRD v5.3i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019175" y="2038350"/>
            <a:ext cx="1038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129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项功能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2,839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行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523875" y="2362200"/>
            <a:ext cx="862965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657225" y="2505075"/>
            <a:ext cx="247650" cy="247650"/>
          </a:xfrm>
          <a:custGeom>
            <a:pathLst>
              <a:path w="26" h="26">
                <a:moveTo>
                  <a:pt x="13" y="0"/>
                </a:moveTo>
                <a:lnTo>
                  <a:pt x="13" y="0"/>
                </a:lnTo>
                <a:cubicBezTo>
                  <a:pt x="20" y="0"/>
                  <a:pt x="26" y="6"/>
                  <a:pt x="26" y="13"/>
                </a:cubicBezTo>
                <a:lnTo>
                  <a:pt x="26" y="13"/>
                </a:lnTo>
                <a:cubicBezTo>
                  <a:pt x="26" y="20"/>
                  <a:pt x="20" y="26"/>
                  <a:pt x="13" y="26"/>
                </a:cubicBezTo>
                <a:lnTo>
                  <a:pt x="13" y="26"/>
                </a:lnTo>
                <a:cubicBezTo>
                  <a:pt x="6" y="26"/>
                  <a:pt x="0" y="20"/>
                  <a:pt x="0" y="13"/>
                </a:cubicBezTo>
                <a:lnTo>
                  <a:pt x="0" y="13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EA580C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42950" y="25527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019175" y="2466975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产品设计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19175" y="2638425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灵魂解读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竞品定位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全景分析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523875" y="2962275"/>
            <a:ext cx="862965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657225" y="3105150"/>
            <a:ext cx="247650" cy="247650"/>
          </a:xfrm>
          <a:custGeom>
            <a:pathLst>
              <a:path w="26" h="26">
                <a:moveTo>
                  <a:pt x="13" y="0"/>
                </a:moveTo>
                <a:lnTo>
                  <a:pt x="13" y="0"/>
                </a:lnTo>
                <a:cubicBezTo>
                  <a:pt x="20" y="0"/>
                  <a:pt x="26" y="6"/>
                  <a:pt x="26" y="13"/>
                </a:cubicBezTo>
                <a:lnTo>
                  <a:pt x="26" y="13"/>
                </a:lnTo>
                <a:cubicBezTo>
                  <a:pt x="26" y="20"/>
                  <a:pt x="20" y="26"/>
                  <a:pt x="13" y="26"/>
                </a:cubicBezTo>
                <a:lnTo>
                  <a:pt x="13" y="26"/>
                </a:lnTo>
                <a:cubicBezTo>
                  <a:pt x="6" y="26"/>
                  <a:pt x="0" y="20"/>
                  <a:pt x="0" y="13"/>
                </a:cubicBezTo>
                <a:lnTo>
                  <a:pt x="0" y="13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42950" y="31527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19175" y="3067050"/>
            <a:ext cx="1638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解决方案架构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 v1.0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019175" y="3238500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四层组件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技术选型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部署方案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23875" y="3562350"/>
            <a:ext cx="8629650" cy="523875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657225" y="3705225"/>
            <a:ext cx="247650" cy="247650"/>
          </a:xfrm>
          <a:custGeom>
            <a:pathLst>
              <a:path w="26" h="26">
                <a:moveTo>
                  <a:pt x="13" y="0"/>
                </a:moveTo>
                <a:lnTo>
                  <a:pt x="13" y="0"/>
                </a:lnTo>
                <a:cubicBezTo>
                  <a:pt x="20" y="0"/>
                  <a:pt x="26" y="6"/>
                  <a:pt x="26" y="13"/>
                </a:cubicBezTo>
                <a:lnTo>
                  <a:pt x="26" y="13"/>
                </a:lnTo>
                <a:cubicBezTo>
                  <a:pt x="26" y="20"/>
                  <a:pt x="20" y="26"/>
                  <a:pt x="13" y="26"/>
                </a:cubicBezTo>
                <a:lnTo>
                  <a:pt x="13" y="26"/>
                </a:lnTo>
                <a:cubicBezTo>
                  <a:pt x="6" y="26"/>
                  <a:pt x="0" y="20"/>
                  <a:pt x="0" y="13"/>
                </a:cubicBezTo>
                <a:lnTo>
                  <a:pt x="0" y="13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42950" y="37528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19175" y="3667125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总体架构</a:t>
            </a: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 v2.0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019175" y="383857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4+1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视图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+ ADR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决策记录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523875" y="4162425"/>
            <a:ext cx="8629650" cy="523875"/>
          </a:xfrm>
          <a:prstGeom prst="roundRect">
            <a:avLst>
              <a:gd name="adj" fmla="val 14545"/>
            </a:avLst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  <a:effectLst>
            <a:outerShdw blurRad="38100" dist="9525" dir="5400000">
              <a:srgbClr val="0891B2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657225" y="4305300"/>
            <a:ext cx="247650" cy="247650"/>
          </a:xfrm>
          <a:custGeom>
            <a:pathLst>
              <a:path w="26" h="26">
                <a:moveTo>
                  <a:pt x="13" y="0"/>
                </a:moveTo>
                <a:lnTo>
                  <a:pt x="13" y="0"/>
                </a:lnTo>
                <a:cubicBezTo>
                  <a:pt x="20" y="0"/>
                  <a:pt x="26" y="6"/>
                  <a:pt x="26" y="13"/>
                </a:cubicBezTo>
                <a:lnTo>
                  <a:pt x="26" y="13"/>
                </a:lnTo>
                <a:cubicBezTo>
                  <a:pt x="26" y="20"/>
                  <a:pt x="20" y="26"/>
                  <a:pt x="13" y="26"/>
                </a:cubicBezTo>
                <a:lnTo>
                  <a:pt x="13" y="26"/>
                </a:lnTo>
                <a:cubicBezTo>
                  <a:pt x="6" y="26"/>
                  <a:pt x="0" y="20"/>
                  <a:pt x="0" y="13"/>
                </a:cubicBezTo>
                <a:lnTo>
                  <a:pt x="0" y="13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42950" y="43529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19175" y="4267200"/>
            <a:ext cx="1895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7490"/>
                </a:solidFill>
                <a:latin typeface="Microsoft YaHei"/>
                <a:ea typeface="Microsoft YaHei"/>
              </a:rPr>
              <a:t>详细架构</a:t>
            </a:r>
            <a:r>
              <a:rPr lang="en-US" sz="1125" b="1">
                <a:solidFill>
                  <a:srgbClr val="0E7490"/>
                </a:solidFill>
                <a:latin typeface="Microsoft YaHei"/>
                <a:ea typeface="Microsoft YaHei"/>
              </a:rPr>
              <a:t> v1.1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019175" y="4438650"/>
            <a:ext cx="1895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9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模块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19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表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129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功能映射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· 3,380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行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9382125" y="1162050"/>
            <a:ext cx="2286000" cy="1866900"/>
          </a:xfrm>
          <a:prstGeom prst="roundRect">
            <a:avLst>
              <a:gd name="adj" fmla="val 5102"/>
            </a:avLst>
          </a:prstGeom>
          <a:gradFill>
            <a:gsLst>
              <a:gs pos="0">
                <a:srgbClr val="2563EB">
                  <a:alpha val="4000"/>
                </a:srgbClr>
              </a:gs>
              <a:gs pos="100000">
                <a:srgbClr val="7C3AED">
                  <a:alpha val="2000"/>
                </a:srgbClr>
              </a:gs>
            </a:gsLst>
            <a:lin ang="2700000" scaled="1"/>
          </a:gra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534525" y="1333500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链路通过率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9534525" y="1581150"/>
            <a:ext cx="1981200" cy="266700"/>
          </a:xfrm>
          <a:custGeom>
            <a:pathLst>
              <a:path w="208" h="28">
                <a:moveTo>
                  <a:pt x="0" y="27"/>
                </a:moveTo>
                <a:lnTo>
                  <a:pt x="208" y="27"/>
                </a:lnTo>
                <a:lnTo>
                  <a:pt x="208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534525" y="1628775"/>
            <a:ext cx="638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市场→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PRD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258550" y="162877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96%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9534525" y="1838325"/>
            <a:ext cx="1981200" cy="266700"/>
          </a:xfrm>
          <a:custGeom>
            <a:pathLst>
              <a:path w="208" h="28">
                <a:moveTo>
                  <a:pt x="0" y="27"/>
                </a:moveTo>
                <a:lnTo>
                  <a:pt x="208" y="27"/>
                </a:lnTo>
                <a:lnTo>
                  <a:pt x="208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534525" y="1885950"/>
            <a:ext cx="638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PRD→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产品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1191875" y="1885950"/>
            <a:ext cx="323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59669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9534525" y="2095500"/>
            <a:ext cx="1981200" cy="266700"/>
          </a:xfrm>
          <a:custGeom>
            <a:pathLst>
              <a:path w="208" h="28">
                <a:moveTo>
                  <a:pt x="0" y="27"/>
                </a:moveTo>
                <a:lnTo>
                  <a:pt x="208" y="27"/>
                </a:lnTo>
                <a:lnTo>
                  <a:pt x="208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534525" y="214312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产品→方案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191875" y="2143125"/>
            <a:ext cx="323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59669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9534525" y="2352675"/>
            <a:ext cx="1981200" cy="266700"/>
          </a:xfrm>
          <a:custGeom>
            <a:pathLst>
              <a:path w="208" h="28">
                <a:moveTo>
                  <a:pt x="0" y="27"/>
                </a:moveTo>
                <a:lnTo>
                  <a:pt x="208" y="27"/>
                </a:lnTo>
                <a:lnTo>
                  <a:pt x="208" y="28"/>
                </a:lnTo>
                <a:lnTo>
                  <a:pt x="0" y="28"/>
                </a:lnTo>
                <a:close/>
              </a:path>
            </a:pathLst>
          </a:cu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534525" y="24003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方案→总体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258550" y="2400300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92%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9534525" y="26574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总体→详细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258550" y="265747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2563EB"/>
                </a:solidFill>
                <a:latin typeface="Microsoft YaHei"/>
                <a:ea typeface="Microsoft YaHei"/>
              </a:rPr>
              <a:t>95%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9382125" y="3124200"/>
            <a:ext cx="2286000" cy="1209675"/>
          </a:xfrm>
          <a:prstGeom prst="roundRect">
            <a:avLst>
              <a:gd name="adj" fmla="val 78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534525" y="3276600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元数据标准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9534525" y="3486150"/>
            <a:ext cx="19812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版本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日期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上游输入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(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带链接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) /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下游传递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(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带链接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) /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代码基线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 —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四核心字段统一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9382125" y="4429125"/>
            <a:ext cx="2286000" cy="895350"/>
          </a:xfrm>
          <a:prstGeom prst="roundRect">
            <a:avLst>
              <a:gd name="adj" fmla="val 1063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9534525" y="4581525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59669"/>
                </a:solidFill>
                <a:latin typeface="Microsoft YaHei"/>
                <a:ea typeface="Microsoft YaHei"/>
              </a:rPr>
              <a:t>✅ </a:t>
            </a:r>
            <a:r>
              <a:rPr lang="zh-CN" sz="975" b="1">
                <a:solidFill>
                  <a:srgbClr val="059669"/>
                </a:solidFill>
                <a:latin typeface="Microsoft YaHei"/>
                <a:ea typeface="Microsoft YaHei"/>
              </a:rPr>
              <a:t>一致性校验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9534525" y="4772025"/>
            <a:ext cx="19812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全链路数据基线已统一：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43,569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行</a:t>
            </a: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 / 262py / 3,566</a:t>
            </a:r>
            <a:r>
              <a:rPr lang="zh-CN" sz="900">
                <a:solidFill>
                  <a:srgbClr val="64748B"/>
                </a:solidFill>
                <a:latin typeface="Microsoft YaHei"/>
                <a:ea typeface="Microsoft YaHei"/>
              </a:rPr>
              <a:t>行数据引擎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30617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64" name="" descr="&lt;Slide style={{ background: '#FFFFFF', padding: '42px 55px 32px' }}&gt;&#10;  &lt;Text style={{ fontSize: 15, color: '#64748B', fontWeight: '500', marginBottom: 6 }}&gt;SPRINT PLAN&lt;/Text&gt;&#10;  &lt;Text style={{ fontSize: 28, color: '#0F172A', fontWeight: 'bold', marginBottom: 24 }}&gt;D1-D4 · 冲刺四步走&lt;/Text&gt;&#10;&#10;  &lt;Box style={{ display: 'flex', flexDirection: 'column', gap: 12 }}&gt;&#10;    {[&#10;      {&#10;        id: 'D1', name: '冻品供应链', month: '8月',&#10;        desc: '品牌规格锁定 · 温控追溯 · 退换货流程',&#10;        color: '#2563EB', border: '#BFDBFE', bg: '#EFF6FF'&#10;      },&#10;      {&#10;        id: 'D2', name: '岗位AI助理', month: '8月',&#10;        desc: '店长 / 后厨 / 采购 / 供应商 四角色入口',&#10;        color: '#7C3AED', border: '#DDD6FE', bg: '#F5F3FF'&#10;      },&#10;      {&#10;        id: 'D3', name: '集成测试', month: '9月',&#10;        desc: '双店联调 · 端到端流程验证 · 性能压测',&#10;        color: '#0891B2', border: '#A5F3FC', bg: '#ECFEFF'&#10;      },&#10;      {&#10;        id: 'D4', name: '彩排', month: '9月',&#10;        desc: 'Demo场景打磨 · 讲稿演练 · 应急预案',&#10;        color: '#D97706', border: '#FDE68A', bg: '#FFFBEB'&#10;      }&#10;    ].map((step, i) =&gt; (&#10;      &lt;Box key={i} style={{&#10;        display: 'flex', flexDirection: 'row', alignItems: 'center', gap: 16,&#10;        background: step.bg,&#10;        borderRadius: 10, padding: '16px 20px',&#10;        borderLeft: `4px solid ${step.color}`&#10;      }}&gt;&#10;        &lt;Box style={{&#10;          width: 52, height: 52, borderRadius: 10,&#10;          background: `${step.color}12`, border: `1px solid ${step.border}`,&#10;          display: 'flex', flexDirection: 'column', alignItems: 'center', justifyContent: 'center', flexShrink: 0&#10;        }}&gt;&#10;          &lt;Text style={{ fontSize: 18, fontWeight: 'bold', color: step.color }}&gt;{step.id}&lt;/Text&gt;&#10;          &lt;Text style={{ fontSize: 11, color: '#94A3B8' }}&gt;{step.month}&lt;/Text&gt;&#10;        &lt;/Box&gt;&#10;        &lt;Box style={{ flex: 1 }}&gt;&#10;          &lt;Text style={{ fontSize: 18, fontWeight: '600', color: '#0F172A' }}&gt;{step.name}&lt;/Text&gt;&#10;          &lt;Text style={{ fontSize: 14, color: '#64748B', marginTop: 3 }}&gt;{step.desc}&lt;/Text&gt;&#10;        &lt;/Box&gt;&#10;      &lt;/Box&gt;&#10;    ))}&#10;  &lt;/Box&gt;&#10;&#10;  &lt;Box style={{ position: 'absolute', bottom: 28, right: 50 }}&gt;&#10;    &lt;Text style={{ fontSize: 14, color: 'rgba(100,116,139,0.4)' }}&gt;14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23875" y="400050"/>
            <a:ext cx="1114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SPRINT PLAN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23875" y="628650"/>
            <a:ext cx="11144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F172A"/>
                </a:solidFill>
                <a:latin typeface="Microsoft YaHei"/>
                <a:ea typeface="Microsoft YaHei"/>
              </a:rPr>
              <a:t>D1-D4 · </a:t>
            </a: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冲刺四步走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561975" y="1181100"/>
            <a:ext cx="11144250" cy="800100"/>
          </a:xfrm>
          <a:prstGeom prst="roundRect">
            <a:avLst>
              <a:gd name="adj" fmla="val 11905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561975" y="1181100"/>
            <a:ext cx="11144250" cy="800100"/>
          </a:xfrm>
          <a:custGeom>
            <a:pathLst>
              <a:path w="1170" h="8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8"/>
                </a:lnTo>
                <a:cubicBezTo>
                  <a:pt x="4" y="81"/>
                  <a:pt x="6" y="83"/>
                  <a:pt x="9" y="84"/>
                </a:cubicBezTo>
                <a:cubicBezTo>
                  <a:pt x="4" y="83"/>
                  <a:pt x="0" y="79"/>
                  <a:pt x="0" y="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752475" y="13335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2563EB">
              <a:alpha val="7059"/>
            </a:srgbClr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85825" y="1409700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563EB"/>
                </a:solidFill>
                <a:latin typeface="Microsoft YaHei"/>
                <a:ea typeface="Microsoft YaHei"/>
              </a:rPr>
              <a:t>D1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14400" y="1619250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8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400175" y="1381125"/>
            <a:ext cx="1007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冻品供应链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400175" y="1619250"/>
            <a:ext cx="1007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品牌规格锁定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温控追溯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退换货流程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561975" y="2095500"/>
            <a:ext cx="11144250" cy="800100"/>
          </a:xfrm>
          <a:prstGeom prst="roundRect">
            <a:avLst>
              <a:gd name="adj" fmla="val 11905"/>
            </a:avLst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561975" y="2095500"/>
            <a:ext cx="11144250" cy="800100"/>
          </a:xfrm>
          <a:custGeom>
            <a:pathLst>
              <a:path w="1170" h="8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8"/>
                </a:lnTo>
                <a:cubicBezTo>
                  <a:pt x="4" y="81"/>
                  <a:pt x="6" y="83"/>
                  <a:pt x="9" y="84"/>
                </a:cubicBezTo>
                <a:cubicBezTo>
                  <a:pt x="4" y="83"/>
                  <a:pt x="0" y="79"/>
                  <a:pt x="0" y="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752475" y="22479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7C3AED">
              <a:alpha val="7059"/>
            </a:srgbClr>
          </a:solidFill>
          <a:ln w="12700">
            <a:solidFill>
              <a:srgbClr val="DDD6FE"/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85825" y="2324100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7C3AED"/>
                </a:solidFill>
                <a:latin typeface="Microsoft YaHei"/>
                <a:ea typeface="Microsoft YaHei"/>
              </a:rPr>
              <a:t>D2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914400" y="2533650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8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400175" y="2295525"/>
            <a:ext cx="1007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岗位</a:t>
            </a: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AI</a:t>
            </a: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助理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400175" y="2533650"/>
            <a:ext cx="1007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店长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后厨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采购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供应商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四角色入口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561975" y="3009900"/>
            <a:ext cx="11144250" cy="800100"/>
          </a:xfrm>
          <a:prstGeom prst="roundRect">
            <a:avLst>
              <a:gd name="adj" fmla="val 11905"/>
            </a:avLst>
          </a:prstGeom>
          <a:solidFill>
            <a:srgbClr val="ECFEFF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561975" y="3009900"/>
            <a:ext cx="11144250" cy="800100"/>
          </a:xfrm>
          <a:custGeom>
            <a:pathLst>
              <a:path w="1170" h="8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8"/>
                </a:lnTo>
                <a:cubicBezTo>
                  <a:pt x="4" y="81"/>
                  <a:pt x="6" y="83"/>
                  <a:pt x="9" y="84"/>
                </a:cubicBezTo>
                <a:cubicBezTo>
                  <a:pt x="4" y="83"/>
                  <a:pt x="0" y="79"/>
                  <a:pt x="0" y="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752475" y="31623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0891B2">
              <a:alpha val="7059"/>
            </a:srgbClr>
          </a:solidFill>
          <a:ln w="12700">
            <a:solidFill>
              <a:srgbClr val="A5F3FC"/>
            </a:solidFill>
            <a:prstDash val="solid"/>
          </a:ln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85825" y="3238500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891B2"/>
                </a:solidFill>
                <a:latin typeface="Microsoft YaHei"/>
                <a:ea typeface="Microsoft YaHei"/>
              </a:rPr>
              <a:t>D3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914400" y="3448050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9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400175" y="3209925"/>
            <a:ext cx="1007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集成测试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400175" y="3448050"/>
            <a:ext cx="1007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双店联调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端到端流程验证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性能压测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561975" y="3924300"/>
            <a:ext cx="11144250" cy="800100"/>
          </a:xfrm>
          <a:prstGeom prst="roundRect">
            <a:avLst>
              <a:gd name="adj" fmla="val 11905"/>
            </a:avLst>
          </a:prstGeom>
          <a:solidFill>
            <a:srgbClr val="FFFBEB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561975" y="3924300"/>
            <a:ext cx="11144250" cy="800100"/>
          </a:xfrm>
          <a:custGeom>
            <a:pathLst>
              <a:path w="1170" h="8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8"/>
                </a:lnTo>
                <a:cubicBezTo>
                  <a:pt x="4" y="81"/>
                  <a:pt x="6" y="83"/>
                  <a:pt x="9" y="84"/>
                </a:cubicBezTo>
                <a:cubicBezTo>
                  <a:pt x="4" y="83"/>
                  <a:pt x="0" y="79"/>
                  <a:pt x="0" y="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752475" y="40767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D97706">
              <a:alpha val="7059"/>
            </a:srgbClr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85825" y="4152900"/>
            <a:ext cx="22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7706"/>
                </a:solidFill>
                <a:latin typeface="Microsoft YaHei"/>
                <a:ea typeface="Microsoft YaHei"/>
              </a:rPr>
              <a:t>D4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14400" y="4362450"/>
            <a:ext cx="171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9</a:t>
            </a:r>
            <a:r>
              <a:rPr lang="zh-CN" sz="825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400175" y="4124325"/>
            <a:ext cx="1007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彩排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400175" y="4362450"/>
            <a:ext cx="10077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Demo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场景打磨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讲稿演练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应急预案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130617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97" name="" descr="&lt;Slide style={{ background: '#FFFFFF', padding: '45px 60px 35px' }}&gt;&#10;  &lt;Text style={{ fontSize: 15, color: '#DC2626', fontWeight: '600', letterSpacing: 3, marginBottom: 8 }}&gt;HARD DEADLINE&lt;/Text&gt;&#10;  &lt;Text style={{ fontSize: 28, color: '#0F172A', fontWeight: 'bold', marginBottom: 28 }}&gt;重庆市政府展会亮相&lt;/Text&gt;&#10;&#10;  &lt;Box style={{ display: 'flex', flexDirection: 'column', alignItems: 'center', marginBottom: 28 }}&gt;&#10;    &lt;Text style={{&#10;      fontSize: 90,&#10;      fontWeight: 'bold',&#10;      backgroundImage: 'linear-gradient(135deg, #D97706 0%, #EA580C 100%)',&#10;      backgroundClip: 'text', color: 'transparent', lineHeight: 1&#10;    }}&gt;2026.10&lt;/Text&gt;&#10;    &lt;Text style={{&#10;      fontSize: 36, color: '#0F172A', fontWeight: 'bold',&#10;      marginTop: -4&#10;    }}&gt;重庆&lt;/Text&gt;&#10;  &lt;/Box&gt;&#10;&#10;  &lt;Box style={{&#10;    background: '#FEF2F2', borderRadius: 12,&#10;    padding: '20px 24px', border: '1px solid #FECACA', maxWidth: 700, alignSelf: 'center'&#10;  }}&gt;&#10;    &lt;Text style={{ fontSize: 14, color: '#DC2626', fontWeight: '600', marginBottom: 12 }}&gt;三阶段路线&lt;/Text&gt;&#10;&#10;    &lt;Box style={{ display: 'flex', flexDirection: 'column', gap: 10 }}&gt;&#10;      {[&#10;        { phase: '两店验证', status: '🟡 进行中', statusColor: '#D97706', dotColor: '#D97706' },&#10;        { phase: '区域标准化', status: '⏳ 展会后', statusColor: '#64748B', dotColor: '#2563EB' },&#10;        { phase: '对外输出', status: '⏳ 标准化后', statusColor: '#64748B', dotColor: '#7C3AED' }&#10;      ].map((p, i) =&gt; (&#10;        &lt;Box key={i} style={{ display: 'flex', flexDirection: 'row', alignItems: 'center', gap: 12 }}&gt;&#10;          &lt;Box style={{ width: 10, height: 10, borderRadius: '50%', background: p.dotColor, flexShrink: 0 }} /&gt;&#10;          &lt;Text style={{ fontSize: 16, fontWeight: '600', color: '#334155', flex: 1 }}&gt;{p.phase}&lt;/Text&gt;&#10;          &lt;Text style={{ fontSize: 14, color: p.statusColor }}&gt;{p.status}&lt;/Text&gt;&#10;        &lt;/Box&gt;&#10;      ))}&#10;    &lt;/Box&gt;&#10;  &lt;/Box&gt;&#10;&#10;  &lt;Box style={{ position: 'absolute', bottom: 28, right: 50 }}&gt;&#10;    &lt;Text style={{ fontSize: 14, color: 'rgba(100,116,139,0.4)' }}&gt;15 / 16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225">
                <a:solidFill>
                  <a:srgbClr val="DC2626"/>
                </a:solidFill>
                <a:latin typeface="Microsoft YaHei"/>
                <a:ea typeface="Microsoft YaHei"/>
              </a:rPr>
              <a:t>HARD DEADLINE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71500" y="676275"/>
            <a:ext cx="11049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重庆市政府展会亮相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543425" y="1266825"/>
            <a:ext cx="3105150" cy="1028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0" b="1">
                <a:gradFill>
                  <a:gsLst>
                    <a:gs pos="0">
                      <a:srgbClr val="D97706"/>
                    </a:gs>
                    <a:gs pos="100000">
                      <a:srgbClr val="EA580C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2026.10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753100" y="2257425"/>
            <a:ext cx="685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重庆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2762250" y="2943225"/>
            <a:ext cx="6667500" cy="1419225"/>
          </a:xfrm>
          <a:prstGeom prst="roundRect">
            <a:avLst>
              <a:gd name="adj" fmla="val 805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2990850" y="3133725"/>
            <a:ext cx="621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DC2626"/>
                </a:solidFill>
                <a:latin typeface="Microsoft YaHei"/>
                <a:ea typeface="Microsoft YaHei"/>
              </a:rPr>
              <a:t>三阶段路线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2990850" y="3457575"/>
            <a:ext cx="95250" cy="95250"/>
          </a:xfrm>
          <a:custGeom>
            <a:pathLst>
              <a:path w="10" h="10">
                <a:moveTo>
                  <a:pt x="5" y="0"/>
                </a:moveTo>
                <a:lnTo>
                  <a:pt x="5" y="0"/>
                </a:lnTo>
                <a:cubicBezTo>
                  <a:pt x="8" y="0"/>
                  <a:pt x="10" y="2"/>
                  <a:pt x="10" y="5"/>
                </a:cubicBezTo>
                <a:lnTo>
                  <a:pt x="10" y="5"/>
                </a:lnTo>
                <a:cubicBezTo>
                  <a:pt x="10" y="8"/>
                  <a:pt x="8" y="10"/>
                  <a:pt x="5" y="10"/>
                </a:cubicBezTo>
                <a:lnTo>
                  <a:pt x="5" y="10"/>
                </a:lnTo>
                <a:cubicBezTo>
                  <a:pt x="2" y="10"/>
                  <a:pt x="0" y="8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3200400" y="3409950"/>
            <a:ext cx="5314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4155"/>
                </a:solidFill>
                <a:latin typeface="Microsoft YaHei"/>
                <a:ea typeface="Microsoft YaHei"/>
              </a:rPr>
              <a:t>两店验证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629650" y="3429000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D97706"/>
                </a:solidFill>
                <a:latin typeface="Microsoft YaHei"/>
                <a:ea typeface="Microsoft YaHei"/>
              </a:rPr>
              <a:t>🟡 </a:t>
            </a:r>
            <a:r>
              <a:rPr lang="zh-CN" sz="1050">
                <a:solidFill>
                  <a:srgbClr val="D97706"/>
                </a:solidFill>
                <a:latin typeface="Microsoft YaHei"/>
                <a:ea typeface="Microsoft YaHei"/>
              </a:rPr>
              <a:t>进行中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2990850" y="3743325"/>
            <a:ext cx="95250" cy="95250"/>
          </a:xfrm>
          <a:custGeom>
            <a:pathLst>
              <a:path w="10" h="10">
                <a:moveTo>
                  <a:pt x="5" y="0"/>
                </a:moveTo>
                <a:lnTo>
                  <a:pt x="5" y="0"/>
                </a:lnTo>
                <a:cubicBezTo>
                  <a:pt x="8" y="0"/>
                  <a:pt x="10" y="2"/>
                  <a:pt x="10" y="5"/>
                </a:cubicBezTo>
                <a:lnTo>
                  <a:pt x="10" y="5"/>
                </a:lnTo>
                <a:cubicBezTo>
                  <a:pt x="10" y="8"/>
                  <a:pt x="8" y="10"/>
                  <a:pt x="5" y="10"/>
                </a:cubicBezTo>
                <a:lnTo>
                  <a:pt x="5" y="10"/>
                </a:lnTo>
                <a:cubicBezTo>
                  <a:pt x="2" y="10"/>
                  <a:pt x="0" y="8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200400" y="3695700"/>
            <a:ext cx="5314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4155"/>
                </a:solidFill>
                <a:latin typeface="Microsoft YaHei"/>
                <a:ea typeface="Microsoft YaHei"/>
              </a:rPr>
              <a:t>区域标准化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629650" y="3714750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⏳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展会后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2990850" y="4029075"/>
            <a:ext cx="95250" cy="95250"/>
          </a:xfrm>
          <a:custGeom>
            <a:pathLst>
              <a:path w="10" h="10">
                <a:moveTo>
                  <a:pt x="5" y="0"/>
                </a:moveTo>
                <a:lnTo>
                  <a:pt x="5" y="0"/>
                </a:lnTo>
                <a:cubicBezTo>
                  <a:pt x="8" y="0"/>
                  <a:pt x="10" y="2"/>
                  <a:pt x="10" y="5"/>
                </a:cubicBezTo>
                <a:lnTo>
                  <a:pt x="10" y="5"/>
                </a:lnTo>
                <a:cubicBezTo>
                  <a:pt x="10" y="8"/>
                  <a:pt x="8" y="10"/>
                  <a:pt x="5" y="10"/>
                </a:cubicBezTo>
                <a:lnTo>
                  <a:pt x="5" y="10"/>
                </a:lnTo>
                <a:cubicBezTo>
                  <a:pt x="2" y="10"/>
                  <a:pt x="0" y="8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200400" y="3981450"/>
            <a:ext cx="518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34155"/>
                </a:solidFill>
                <a:latin typeface="Microsoft YaHei"/>
                <a:ea typeface="Microsoft YaHei"/>
              </a:rPr>
              <a:t>对外输出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496300" y="4000500"/>
            <a:ext cx="70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⏳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标准化后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30617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40000"/>
                  </a:srgbClr>
                </a:solidFill>
                <a:latin typeface="Microsoft YaHei"/>
                <a:ea typeface="Microsoft YaHei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215" name="" descr="&lt;Slide&gt;&#10;  &lt;Box style={{ position: 'relative', width: '100%', height: '100%', background: 'linear-gradient(135deg, #FFF7ED 0%, #FFEDD5 30%, #FEE2E2 60%, #FFF7ED 100%)' }}&gt;&#10;    &lt;Box style={{ position: 'absolute', top: -100, right: -100, width: 500, height: 500, borderRadius: '50%', background: 'radial-gradient(circle, rgba(217,119,6,0.08) 0%, transparent 70%)' }} /&gt;&#10;    &lt;Box style={{ position: 'absolute', bottom: -80, left: -80, width: 400, height: 400, borderRadius: '50%', background: 'radial-gradient(circle, rgba(234,88,12,0.06) 0%, transparent 70%)' }} /&gt;&#10;&#10;    &lt;Box style={{ position: 'relative', zIndex: 2, padding: '70px 90px', height: '100%', display: 'flex', flexDirection: 'column', justifyContent: 'center', alignItems: 'center' }}&gt;&#10;      &lt;Text style={{ fontSize: 56, color: '#0F172A', fontWeight: 'bold', lineHeight: 1.2, textAlign: 'center', marginBottom: 6 }}&gt;拿得少&lt;/Text&gt;&#10;      &lt;Text style={{ fontSize: 56, color: '#0F172A', fontWeight: 'bold', lineHeight: 1.2, textAlign: 'center', marginBottom: 20 }}&gt;走得远&lt;/Text&gt;&#10;&#10;      &lt;Box style={{ width: 120, height: 3, background: 'linear-gradient(90deg, #D97706 0%, #EA580C 50%, #DC2626 100%)', borderRadius: 2, marginBottom: 28 }} /&gt;&#10;&#10;      &lt;Text style={{ fontSize: 22, color: '#334155', marginBottom: 6 }}&gt;火瞳 · 冯校长火锅连锁 AI 运营中台&lt;/Text&gt;&#10;      &lt;Text style={{ fontSize: 16, color: '#94A3B8' }}&gt;视觉 + 数据 · 双引擎&lt;/Text&gt;&#10;&#10;      &lt;Box style={{&#10;        display: 'flex', flexDirection: 'row', gap: 32,&#10;        marginTop: 36, padding: '16px 28px',&#10;        background: '#FFFFFF', borderRadius: 12,&#10;        border: '1px solid #E2E8F0', boxShadow: '0 2px 12px rgba(0,0,0,0.06)'&#10;      }}&gt;&#10;        &lt;Box style={{ display: 'flex', flexDirection: 'column', alignItems: 'center' }}&gt;&#10;          &lt;Text style={{ fontSize: 14, color: '#64748B' }}&gt;PRD&lt;/Text&gt;&#10;          &lt;Text style={{ fontSize: 16, fontWeight: '600', color: '#0F172A' }}&gt;v5.3i&lt;/Text&gt;&#10;        &lt;/Box&gt;&#10;        &lt;Box style={{ display: 'flex', flexDirection: 'column', alignItems: 'center' }}&gt;&#10;          &lt;Text style={{ fontSize: 14, color: '#64748B' }}&gt;架构&lt;/Text&gt;&#10;          &lt;Text style={{ fontSize: 16, fontWeight: '600', color: '#0F172A' }}&gt;v1.1&lt;/Text&gt;&#10;        &lt;/Box&gt;&#10;        &lt;Box style={{ display: 'flex', flexDirection: 'column', alignItems: 'center' }}&gt;&#10;          &lt;Text style={{ fontSize: 14, color: '#64748B' }}&gt;代码&lt;/Text&gt;&#10;          &lt;Text style={{ fontSize: 16, fontWeight: '600', color: '#0F172A' }}&gt;43,569行&lt;/Text&gt;&#10;        &lt;/Box&gt;&#10;      &lt;/Box&gt;&#10;&#10;      &lt;Text style={{ fontSize: 13, color: '#94A3B8', marginTop: 28 }}&gt;2026年7月 · feature/arch-design 分支&lt;/Text&gt;&#10;    &lt;/Box&gt;&#10;&#10;    &lt;Box style={{ position: 'absolute', bottom: 28, right: 50, zIndex: 2 }}&gt;&#10;      &lt;Text style={{ fontSize: 14, color: 'rgba(100,116,139,0.5)' }}&gt;16 / 16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7ED"/>
              </a:gs>
              <a:gs pos="30000">
                <a:srgbClr val="FFEDD5"/>
              </a:gs>
              <a:gs pos="60000">
                <a:srgbClr val="FEE2E2"/>
              </a:gs>
              <a:gs pos="100000">
                <a:srgbClr val="FFF7ED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8382000" y="-952500"/>
            <a:ext cx="4762500" cy="4762500"/>
          </a:xfrm>
          <a:custGeom>
            <a:pathLst>
              <a:path w="500" h="500">
                <a:moveTo>
                  <a:pt x="250" y="0"/>
                </a:moveTo>
                <a:lnTo>
                  <a:pt x="250" y="0"/>
                </a:lnTo>
                <a:cubicBezTo>
                  <a:pt x="388" y="0"/>
                  <a:pt x="500" y="112"/>
                  <a:pt x="500" y="250"/>
                </a:cubicBezTo>
                <a:lnTo>
                  <a:pt x="500" y="250"/>
                </a:lnTo>
                <a:cubicBezTo>
                  <a:pt x="500" y="388"/>
                  <a:pt x="388" y="500"/>
                  <a:pt x="250" y="500"/>
                </a:cubicBezTo>
                <a:lnTo>
                  <a:pt x="250" y="500"/>
                </a:lnTo>
                <a:cubicBezTo>
                  <a:pt x="112" y="500"/>
                  <a:pt x="0" y="388"/>
                  <a:pt x="0" y="250"/>
                </a:cubicBezTo>
                <a:lnTo>
                  <a:pt x="0" y="250"/>
                </a:lnTo>
                <a:cubicBezTo>
                  <a:pt x="0" y="112"/>
                  <a:pt x="112" y="0"/>
                  <a:pt x="250" y="0"/>
                </a:cubicBezTo>
                <a:close/>
              </a:path>
            </a:pathLst>
          </a:custGeom>
          <a:gradFill>
            <a:gsLst>
              <a:gs pos="0">
                <a:srgbClr val="D97706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-762000" y="3810000"/>
            <a:ext cx="3810000" cy="3810000"/>
          </a:xfrm>
          <a:custGeom>
            <a:pathLst>
              <a:path w="400" h="400">
                <a:moveTo>
                  <a:pt x="200" y="0"/>
                </a:moveTo>
                <a:lnTo>
                  <a:pt x="200" y="0"/>
                </a:lnTo>
                <a:cubicBezTo>
                  <a:pt x="310" y="0"/>
                  <a:pt x="400" y="90"/>
                  <a:pt x="400" y="200"/>
                </a:cubicBezTo>
                <a:lnTo>
                  <a:pt x="400" y="200"/>
                </a:lnTo>
                <a:cubicBezTo>
                  <a:pt x="400" y="310"/>
                  <a:pt x="310" y="400"/>
                  <a:pt x="200" y="400"/>
                </a:cubicBezTo>
                <a:lnTo>
                  <a:pt x="200" y="400"/>
                </a:lnTo>
                <a:cubicBezTo>
                  <a:pt x="90" y="400"/>
                  <a:pt x="0" y="310"/>
                  <a:pt x="0" y="200"/>
                </a:cubicBezTo>
                <a:lnTo>
                  <a:pt x="0" y="200"/>
                </a:lnTo>
                <a:cubicBezTo>
                  <a:pt x="0" y="90"/>
                  <a:pt x="90" y="0"/>
                  <a:pt x="200" y="0"/>
                </a:cubicBezTo>
                <a:close/>
              </a:path>
            </a:pathLst>
          </a:custGeom>
          <a:gradFill>
            <a:gsLst>
              <a:gs pos="0">
                <a:srgbClr val="EA580C">
                  <a:alpha val="6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295900" y="1428750"/>
            <a:ext cx="1600200" cy="7715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拿得少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295900" y="2257425"/>
            <a:ext cx="1600200" cy="77152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走得远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524500" y="3219450"/>
            <a:ext cx="11430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D97706"/>
              </a:gs>
              <a:gs pos="50000">
                <a:srgbClr val="EA580C"/>
              </a:gs>
              <a:gs pos="100000">
                <a:srgbClr val="DC262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486275" y="3514725"/>
            <a:ext cx="3228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334155"/>
                </a:solidFill>
                <a:latin typeface="Microsoft YaHei"/>
                <a:ea typeface="Microsoft YaHei"/>
              </a:rPr>
              <a:t>火瞳</a:t>
            </a:r>
            <a:r>
              <a:rPr lang="en-US" sz="16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334155"/>
                </a:solidFill>
                <a:latin typeface="Microsoft YaHei"/>
                <a:ea typeface="Microsoft YaHei"/>
              </a:rPr>
              <a:t>冯校长火锅连锁</a:t>
            </a:r>
            <a:r>
              <a:rPr lang="en-US" sz="1650">
                <a:solidFill>
                  <a:srgbClr val="334155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334155"/>
                </a:solidFill>
                <a:latin typeface="Microsoft YaHei"/>
                <a:ea typeface="Microsoft YaHei"/>
              </a:rPr>
              <a:t>运营中台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5410200" y="3829050"/>
            <a:ext cx="1381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视觉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数据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双引擎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4895850" y="4362450"/>
            <a:ext cx="2409825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191125" y="45148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PRD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162550" y="467677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v5.3i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829300" y="45148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810250" y="46767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v1.1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600825" y="45148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代码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419850" y="4676775"/>
            <a:ext cx="61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43,569</a:t>
            </a: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行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067300" y="5286375"/>
            <a:ext cx="2057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2026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年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7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· feature/arch-design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分支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30617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>
                    <a:alpha val="50000"/>
                  </a:srgbClr>
                </a:solidFill>
                <a:latin typeface="Microsoft YaHei"/>
                <a:ea typeface="Microsoft YaHei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2026-07-30T10:41:04Z</dcterms:created>
  <dcterms:modified xsi:type="dcterms:W3CDTF">2026-07-30T10:41:04Z</dcterms:modified>
</cp:coreProperties>
</file>